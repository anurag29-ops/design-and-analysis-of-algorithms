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f84b4627-9f72-ff3b-c505-ee8a2068d3b8}">
          <p14:sldIdLst>
            <p14:sldId id="256"/>
            <p14:sldId id="257"/>
          </p14:sldIdLst>
        </p14:section>
        <p14:section name="The Problem" id="{dae1d620-8aa0-a440-c64e-cb1735d96fcb}">
          <p14:sldIdLst>
            <p14:sldId id="258"/>
            <p14:sldId id="259"/>
          </p14:sldIdLst>
        </p14:section>
        <p14:section name="The Core Idea" id="{1cba8038-4f14-3345-2362-77c11408c354}">
          <p14:sldIdLst>
            <p14:sldId id="260"/>
            <p14:sldId id="261"/>
            <p14:sldId id="262"/>
          </p14:sldIdLst>
        </p14:section>
        <p14:section name="Walkthrough" id="{4d604f07-3655-d534-868e-fcd19aaab3f3}">
          <p14:sldIdLst>
            <p14:sldId id="263"/>
            <p14:sldId id="264"/>
            <p14:sldId id="265"/>
            <p14:sldId id="266"/>
          </p14:sldIdLst>
        </p14:section>
        <p14:section name="Analysis &amp; Limits" id="{5e617178-6122-646f-40bf-753f4ac5240f}">
          <p14:sldIdLst>
            <p14:sldId id="267"/>
            <p14:sldId id="268"/>
            <p14:sldId id="269"/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Today we explain Dijkstra's algorithm: how to find the shortest distance from one node to every other node in a weighted 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Roadmap: the problem, the core idea of relaxation, a full walkthrough on one graph, then path recovery, complexity, code and limits.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have a graph where each edge has a non-negative weight, such as distance or time. Starting from A, we want the shortest distance to every other node.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Breadth-first search minimises the number of edges, not the total weight. A path with three hops can cost 15 while a five-hop path costs only 13.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a best-known distance for every node: zero for the source and infinity for the rest. Always visit the closest unvisited node. When visiting, relax its edges.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Relaxing an edge asks whether the route through u is shorter than the best known distance to v. If so, we update the distance and remember u as the previous node.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algorithm: initialise, pick the closest unvisited node, relax its edges, and repeat until every node is visited.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Dijkstra starts with dist[A] = 0 and infinity everywhere else.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Visiting A sets B to 4 and C to 2. Visiting C improves B to 3 and reaches D with 10 and E with 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Visiting B improves D to 8. Visiting D improves E to 10 and reaches F with 14.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Visiting E improves F to 13. Every node is now visited and the distances are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node stores the neighbour that gave it its best distance. Following prev pointers back from F gives the path A, C, B, D, E, F with total distance 13.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 structure for picking the minimum decides the running time. A binary min-heap gives O of V plus E times log V and is the usual choice.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heap-based implementation in Python. Stale heap entries are skipped, and relaxing an edge pushes the improved distance. For our graph it returns A 0, B 3, C 2, D 8, E 10, F 13.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Dijkstra assumes a visited node is final. With a negative edge that assumption breaks. In this directed example B is finalised at 2, but going through C costs only 1. Use Bellman-Ford for negative weights.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Shortest-path search runs behind maps, network routing protocols, game pathfinding and travel planning.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summarise: tentative distances, visit the closest, relax edges, recover the path with prev pointers, O of V plus E times log V, and non-negative weights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554480"/>
            <a:ext cx="640080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160520"/>
            <a:ext cx="64008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Dijkstra's Algorithm  ·  Shortest Paths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Dijkstra's Algorithm  ·  Shortest Paths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554480"/>
            <a:ext cx="6400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Dijkstra's Algorithm</a:t>
            </a:r>
            <a:endParaRPr lang="en-US" sz="5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416052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accent6"/>
                </a:solidFill>
              </a:rPr>
              <a:t>Finding the shortest path, step by step</a:t>
            </a:r>
            <a:endParaRPr lang="en-US" sz="2400" dirty="0"/>
          </a:p>
        </p:txBody>
      </p:sp>
      <p:sp>
        <p:nvSpPr>
          <p:cNvPr id="5" name="Hero circle"/>
          <p:cNvSpPr/>
          <p:nvPr/>
        </p:nvSpPr>
        <p:spPr>
          <a:xfrm>
            <a:off x="8229600" y="822960"/>
            <a:ext cx="3108960" cy="310896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6" name="Image 0" descr="Rout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0" y="1600200"/>
            <a:ext cx="1554480" cy="1554480"/>
          </a:xfrm>
          <a:prstGeom prst="rect">
            <a:avLst/>
          </a:prstGeom>
        </p:spPr>
      </p:pic>
      <p:sp>
        <p:nvSpPr>
          <p:cNvPr id="7" name="Stat chip"/>
          <p:cNvSpPr/>
          <p:nvPr/>
        </p:nvSpPr>
        <p:spPr>
          <a:xfrm>
            <a:off x="7315200" y="4480560"/>
            <a:ext cx="137160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7315200" y="448056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A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Source</a:t>
            </a:r>
            <a:endParaRPr lang="en-US" sz="1600" dirty="0"/>
          </a:p>
        </p:txBody>
      </p:sp>
      <p:sp>
        <p:nvSpPr>
          <p:cNvPr id="9" name="Stat chip"/>
          <p:cNvSpPr/>
          <p:nvPr/>
        </p:nvSpPr>
        <p:spPr>
          <a:xfrm>
            <a:off x="8823960" y="4480560"/>
            <a:ext cx="137160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8823960" y="448056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F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Target</a:t>
            </a:r>
            <a:endParaRPr lang="en-US" sz="1600" dirty="0"/>
          </a:p>
        </p:txBody>
      </p:sp>
      <p:sp>
        <p:nvSpPr>
          <p:cNvPr id="11" name="Stat chip"/>
          <p:cNvSpPr/>
          <p:nvPr/>
        </p:nvSpPr>
        <p:spPr>
          <a:xfrm>
            <a:off x="10332720" y="4480560"/>
            <a:ext cx="137160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10332720" y="448056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13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Shortest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What we will cover</a:t>
            </a:r>
            <a:endParaRPr lang="en-US" sz="3600" dirty="0"/>
          </a:p>
        </p:txBody>
      </p:sp>
      <p:sp>
        <p:nvSpPr>
          <p:cNvPr id="4" name="Card"/>
          <p:cNvSpPr/>
          <p:nvPr/>
        </p:nvSpPr>
        <p:spPr>
          <a:xfrm>
            <a:off x="548640" y="1645920"/>
            <a:ext cx="2560320" cy="420624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5" name="Badge"/>
          <p:cNvSpPr/>
          <p:nvPr/>
        </p:nvSpPr>
        <p:spPr>
          <a:xfrm>
            <a:off x="822960" y="19202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1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9260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The problem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84048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Weighted graphs, a source node, and why fewest hops is not the same as shortest distance.</a:t>
            </a:r>
            <a:endParaRPr lang="en-US" sz="1700" dirty="0"/>
          </a:p>
        </p:txBody>
      </p:sp>
      <p:sp>
        <p:nvSpPr>
          <p:cNvPr id="9" name="Card"/>
          <p:cNvSpPr/>
          <p:nvPr/>
        </p:nvSpPr>
        <p:spPr>
          <a:xfrm>
            <a:off x="3392424" y="1645920"/>
            <a:ext cx="2560320" cy="420624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10" name="Badge"/>
          <p:cNvSpPr/>
          <p:nvPr/>
        </p:nvSpPr>
        <p:spPr>
          <a:xfrm>
            <a:off x="3666744" y="19202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666744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2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3666744" y="29260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The core idea</a:t>
            </a:r>
            <a:endParaRPr lang="en-US" sz="2100" dirty="0"/>
          </a:p>
        </p:txBody>
      </p:sp>
      <p:sp>
        <p:nvSpPr>
          <p:cNvPr id="13" name="Text 10"/>
          <p:cNvSpPr txBox="1"/>
          <p:nvPr/>
        </p:nvSpPr>
        <p:spPr>
          <a:xfrm>
            <a:off x="3666744" y="384048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Tentative distances, always visiting the closest node, and relaxing edges.</a:t>
            </a:r>
            <a:endParaRPr lang="en-US" sz="1700" dirty="0"/>
          </a:p>
        </p:txBody>
      </p:sp>
      <p:sp>
        <p:nvSpPr>
          <p:cNvPr id="14" name="Card"/>
          <p:cNvSpPr/>
          <p:nvPr/>
        </p:nvSpPr>
        <p:spPr>
          <a:xfrm>
            <a:off x="6236208" y="1645920"/>
            <a:ext cx="2560320" cy="420624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15" name="Badge"/>
          <p:cNvSpPr/>
          <p:nvPr/>
        </p:nvSpPr>
        <p:spPr>
          <a:xfrm>
            <a:off x="6510528" y="19202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510528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3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6510528" y="29260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Walkthrough</a:t>
            </a:r>
            <a:endParaRPr lang="en-US" sz="2100" dirty="0"/>
          </a:p>
        </p:txBody>
      </p:sp>
      <p:sp>
        <p:nvSpPr>
          <p:cNvPr id="18" name="Text 15"/>
          <p:cNvSpPr txBox="1"/>
          <p:nvPr/>
        </p:nvSpPr>
        <p:spPr>
          <a:xfrm>
            <a:off x="6510528" y="384048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Dijkstra run on a six-node graph, with the distance table at every stage.</a:t>
            </a:r>
            <a:endParaRPr lang="en-US" sz="1700" dirty="0"/>
          </a:p>
        </p:txBody>
      </p:sp>
      <p:sp>
        <p:nvSpPr>
          <p:cNvPr id="19" name="Card"/>
          <p:cNvSpPr/>
          <p:nvPr/>
        </p:nvSpPr>
        <p:spPr>
          <a:xfrm>
            <a:off x="9079992" y="1645920"/>
            <a:ext cx="2560320" cy="420624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20" name="Badge"/>
          <p:cNvSpPr/>
          <p:nvPr/>
        </p:nvSpPr>
        <p:spPr>
          <a:xfrm>
            <a:off x="9354312" y="19202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9354312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4</a:t>
            </a:r>
            <a:endParaRPr lang="en-US" sz="2600" dirty="0"/>
          </a:p>
        </p:txBody>
      </p:sp>
      <p:sp>
        <p:nvSpPr>
          <p:cNvPr id="22" name="Text 19"/>
          <p:cNvSpPr txBox="1"/>
          <p:nvPr/>
        </p:nvSpPr>
        <p:spPr>
          <a:xfrm>
            <a:off x="9354312" y="29260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Analysis &amp; limits</a:t>
            </a:r>
            <a:endParaRPr lang="en-US" sz="2100" dirty="0"/>
          </a:p>
        </p:txBody>
      </p:sp>
      <p:sp>
        <p:nvSpPr>
          <p:cNvPr id="23" name="Text 20"/>
          <p:cNvSpPr txBox="1"/>
          <p:nvPr/>
        </p:nvSpPr>
        <p:spPr>
          <a:xfrm>
            <a:off x="9354312" y="384048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Recovering the path, complexity, Python code, negative edges and uses.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The problem: shortest paths</a:t>
            </a:r>
            <a:endParaRPr lang="en-US" sz="3600" dirty="0"/>
          </a:p>
        </p:txBody>
      </p:sp>
      <p:sp>
        <p:nvSpPr>
          <p:cNvPr id="4" name="Edge AB"/>
          <p:cNvSpPr/>
          <p:nvPr/>
        </p:nvSpPr>
        <p:spPr>
          <a:xfrm flipV="1">
            <a:off x="1239012" y="2543861"/>
            <a:ext cx="1282903" cy="1250899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</a:ln>
        </p:spPr>
      </p:sp>
      <p:sp>
        <p:nvSpPr>
          <p:cNvPr id="5" name="Edge AC"/>
          <p:cNvSpPr/>
          <p:nvPr/>
        </p:nvSpPr>
        <p:spPr>
          <a:xfrm>
            <a:off x="1239012" y="3794760"/>
            <a:ext cx="1282903" cy="1250899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</a:ln>
        </p:spPr>
      </p:sp>
      <p:sp>
        <p:nvSpPr>
          <p:cNvPr id="6" name="Edge BC"/>
          <p:cNvSpPr/>
          <p:nvPr/>
        </p:nvSpPr>
        <p:spPr>
          <a:xfrm>
            <a:off x="2521915" y="2543861"/>
            <a:ext cx="0" cy="2501798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</a:ln>
        </p:spPr>
      </p:sp>
      <p:sp>
        <p:nvSpPr>
          <p:cNvPr id="7" name="Edge BD"/>
          <p:cNvSpPr/>
          <p:nvPr/>
        </p:nvSpPr>
        <p:spPr>
          <a:xfrm>
            <a:off x="2521915" y="2543861"/>
            <a:ext cx="1896466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</a:ln>
        </p:spPr>
      </p:sp>
      <p:sp>
        <p:nvSpPr>
          <p:cNvPr id="8" name="Edge CD"/>
          <p:cNvSpPr/>
          <p:nvPr/>
        </p:nvSpPr>
        <p:spPr>
          <a:xfrm flipV="1">
            <a:off x="2521915" y="2543861"/>
            <a:ext cx="1896466" cy="2501798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</a:ln>
        </p:spPr>
      </p:sp>
      <p:sp>
        <p:nvSpPr>
          <p:cNvPr id="9" name="Edge CE"/>
          <p:cNvSpPr/>
          <p:nvPr/>
        </p:nvSpPr>
        <p:spPr>
          <a:xfrm>
            <a:off x="2521915" y="5045659"/>
            <a:ext cx="1896466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</a:ln>
        </p:spPr>
      </p:sp>
      <p:sp>
        <p:nvSpPr>
          <p:cNvPr id="10" name="Edge DE"/>
          <p:cNvSpPr/>
          <p:nvPr/>
        </p:nvSpPr>
        <p:spPr>
          <a:xfrm>
            <a:off x="4418381" y="2543861"/>
            <a:ext cx="0" cy="2501798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</a:ln>
        </p:spPr>
      </p:sp>
      <p:sp>
        <p:nvSpPr>
          <p:cNvPr id="11" name="Edge DF"/>
          <p:cNvSpPr/>
          <p:nvPr/>
        </p:nvSpPr>
        <p:spPr>
          <a:xfrm>
            <a:off x="4418381" y="2543861"/>
            <a:ext cx="1840687" cy="1250899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</a:ln>
        </p:spPr>
      </p:sp>
      <p:sp>
        <p:nvSpPr>
          <p:cNvPr id="12" name="Edge EF"/>
          <p:cNvSpPr/>
          <p:nvPr/>
        </p:nvSpPr>
        <p:spPr>
          <a:xfrm flipV="1">
            <a:off x="4418381" y="3794760"/>
            <a:ext cx="1840687" cy="1250899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</a:ln>
        </p:spPr>
      </p:sp>
      <p:sp>
        <p:nvSpPr>
          <p:cNvPr id="13" name="Weight AB"/>
          <p:cNvSpPr/>
          <p:nvPr/>
        </p:nvSpPr>
        <p:spPr>
          <a:xfrm>
            <a:off x="1688440" y="3013862"/>
            <a:ext cx="384048" cy="310896"/>
          </a:xfrm>
          <a:prstGeom prst="roundRect">
            <a:avLst>
              <a:gd name="adj" fmla="val 2352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688440" y="301386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Weight AC"/>
          <p:cNvSpPr/>
          <p:nvPr/>
        </p:nvSpPr>
        <p:spPr>
          <a:xfrm>
            <a:off x="1688440" y="4264762"/>
            <a:ext cx="384048" cy="310896"/>
          </a:xfrm>
          <a:prstGeom prst="roundRect">
            <a:avLst>
              <a:gd name="adj" fmla="val 2352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688440" y="426476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Weight BC"/>
          <p:cNvSpPr/>
          <p:nvPr/>
        </p:nvSpPr>
        <p:spPr>
          <a:xfrm>
            <a:off x="2329891" y="3639312"/>
            <a:ext cx="384048" cy="310896"/>
          </a:xfrm>
          <a:prstGeom prst="roundRect">
            <a:avLst>
              <a:gd name="adj" fmla="val 2352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329891" y="363931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19" name="Weight BD"/>
          <p:cNvSpPr/>
          <p:nvPr/>
        </p:nvSpPr>
        <p:spPr>
          <a:xfrm>
            <a:off x="3278124" y="2388413"/>
            <a:ext cx="384048" cy="310896"/>
          </a:xfrm>
          <a:prstGeom prst="roundRect">
            <a:avLst>
              <a:gd name="adj" fmla="val 2352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278124" y="2388413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5</a:t>
            </a:r>
            <a:endParaRPr lang="en-US" sz="1400" dirty="0"/>
          </a:p>
        </p:txBody>
      </p:sp>
      <p:sp>
        <p:nvSpPr>
          <p:cNvPr id="21" name="Weight CD"/>
          <p:cNvSpPr/>
          <p:nvPr/>
        </p:nvSpPr>
        <p:spPr>
          <a:xfrm>
            <a:off x="3278124" y="3639312"/>
            <a:ext cx="384048" cy="310896"/>
          </a:xfrm>
          <a:prstGeom prst="roundRect">
            <a:avLst>
              <a:gd name="adj" fmla="val 2352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278124" y="363931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8</a:t>
            </a:r>
            <a:endParaRPr lang="en-US" sz="1400" dirty="0"/>
          </a:p>
        </p:txBody>
      </p:sp>
      <p:sp>
        <p:nvSpPr>
          <p:cNvPr id="23" name="Weight CE"/>
          <p:cNvSpPr/>
          <p:nvPr/>
        </p:nvSpPr>
        <p:spPr>
          <a:xfrm>
            <a:off x="3278124" y="4890211"/>
            <a:ext cx="384048" cy="310896"/>
          </a:xfrm>
          <a:prstGeom prst="roundRect">
            <a:avLst>
              <a:gd name="adj" fmla="val 2352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278124" y="4890211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10</a:t>
            </a:r>
            <a:endParaRPr lang="en-US" sz="1400" dirty="0"/>
          </a:p>
        </p:txBody>
      </p:sp>
      <p:sp>
        <p:nvSpPr>
          <p:cNvPr id="25" name="Weight DE"/>
          <p:cNvSpPr/>
          <p:nvPr/>
        </p:nvSpPr>
        <p:spPr>
          <a:xfrm>
            <a:off x="4226357" y="3639312"/>
            <a:ext cx="384048" cy="310896"/>
          </a:xfrm>
          <a:prstGeom prst="roundRect">
            <a:avLst>
              <a:gd name="adj" fmla="val 2352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226357" y="363931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27" name="Weight DF"/>
          <p:cNvSpPr/>
          <p:nvPr/>
        </p:nvSpPr>
        <p:spPr>
          <a:xfrm>
            <a:off x="5146700" y="3013862"/>
            <a:ext cx="384048" cy="310896"/>
          </a:xfrm>
          <a:prstGeom prst="roundRect">
            <a:avLst>
              <a:gd name="adj" fmla="val 2352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146700" y="301386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6</a:t>
            </a:r>
            <a:endParaRPr lang="en-US" sz="1400" dirty="0"/>
          </a:p>
        </p:txBody>
      </p:sp>
      <p:sp>
        <p:nvSpPr>
          <p:cNvPr id="29" name="Weight EF"/>
          <p:cNvSpPr/>
          <p:nvPr/>
        </p:nvSpPr>
        <p:spPr>
          <a:xfrm>
            <a:off x="5146700" y="4264762"/>
            <a:ext cx="384048" cy="310896"/>
          </a:xfrm>
          <a:prstGeom prst="roundRect">
            <a:avLst>
              <a:gd name="adj" fmla="val 2352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146700" y="426476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31" name="Node A"/>
          <p:cNvSpPr/>
          <p:nvPr/>
        </p:nvSpPr>
        <p:spPr>
          <a:xfrm>
            <a:off x="918972" y="3474720"/>
            <a:ext cx="640080" cy="64008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accent1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18972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A</a:t>
            </a:r>
            <a:endParaRPr lang="en-US" sz="2200" dirty="0"/>
          </a:p>
        </p:txBody>
      </p:sp>
      <p:sp>
        <p:nvSpPr>
          <p:cNvPr id="33" name="Node B"/>
          <p:cNvSpPr/>
          <p:nvPr/>
        </p:nvSpPr>
        <p:spPr>
          <a:xfrm>
            <a:off x="2201875" y="2223821"/>
            <a:ext cx="640080" cy="640080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accent5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2201875" y="2223821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B</a:t>
            </a:r>
            <a:endParaRPr lang="en-US" sz="2200" dirty="0"/>
          </a:p>
        </p:txBody>
      </p:sp>
      <p:sp>
        <p:nvSpPr>
          <p:cNvPr id="35" name="Node C"/>
          <p:cNvSpPr/>
          <p:nvPr/>
        </p:nvSpPr>
        <p:spPr>
          <a:xfrm>
            <a:off x="2201875" y="4725619"/>
            <a:ext cx="640080" cy="640080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accent5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2201875" y="4725619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</a:t>
            </a:r>
            <a:endParaRPr lang="en-US" sz="2200" dirty="0"/>
          </a:p>
        </p:txBody>
      </p:sp>
      <p:sp>
        <p:nvSpPr>
          <p:cNvPr id="37" name="Node D"/>
          <p:cNvSpPr/>
          <p:nvPr/>
        </p:nvSpPr>
        <p:spPr>
          <a:xfrm>
            <a:off x="4098341" y="2223821"/>
            <a:ext cx="640080" cy="640080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accent5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4098341" y="2223821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D</a:t>
            </a:r>
            <a:endParaRPr lang="en-US" sz="2200" dirty="0"/>
          </a:p>
        </p:txBody>
      </p:sp>
      <p:sp>
        <p:nvSpPr>
          <p:cNvPr id="39" name="Node E"/>
          <p:cNvSpPr/>
          <p:nvPr/>
        </p:nvSpPr>
        <p:spPr>
          <a:xfrm>
            <a:off x="4098341" y="4725619"/>
            <a:ext cx="640080" cy="640080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accent5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098341" y="4725619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E</a:t>
            </a:r>
            <a:endParaRPr lang="en-US" sz="2200" dirty="0"/>
          </a:p>
        </p:txBody>
      </p:sp>
      <p:sp>
        <p:nvSpPr>
          <p:cNvPr id="41" name="Node F"/>
          <p:cNvSpPr/>
          <p:nvPr/>
        </p:nvSpPr>
        <p:spPr>
          <a:xfrm>
            <a:off x="5939028" y="3474720"/>
            <a:ext cx="640080" cy="640080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accent5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5939028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F</a:t>
            </a:r>
            <a:endParaRPr lang="en-US" sz="2200" dirty="0"/>
          </a:p>
        </p:txBody>
      </p:sp>
      <p:sp>
        <p:nvSpPr>
          <p:cNvPr id="43" name="Problem card"/>
          <p:cNvSpPr/>
          <p:nvPr/>
        </p:nvSpPr>
        <p:spPr>
          <a:xfrm>
            <a:off x="7406640" y="1600200"/>
            <a:ext cx="4233672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7680960" y="17647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Given</a:t>
            </a:r>
            <a:endParaRPr lang="en-US" sz="1600" dirty="0"/>
          </a:p>
        </p:txBody>
      </p:sp>
      <p:sp>
        <p:nvSpPr>
          <p:cNvPr id="45" name="Text 42"/>
          <p:cNvSpPr txBox="1"/>
          <p:nvPr/>
        </p:nvSpPr>
        <p:spPr>
          <a:xfrm>
            <a:off x="7680960" y="21488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weighted graph and a source node, A.</a:t>
            </a:r>
            <a:endParaRPr lang="en-US" sz="1800" dirty="0"/>
          </a:p>
        </p:txBody>
      </p:sp>
      <p:sp>
        <p:nvSpPr>
          <p:cNvPr id="46" name="Problem card"/>
          <p:cNvSpPr/>
          <p:nvPr/>
        </p:nvSpPr>
        <p:spPr>
          <a:xfrm>
            <a:off x="7406640" y="3108960"/>
            <a:ext cx="4233672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47" name="Text 44"/>
          <p:cNvSpPr txBox="1"/>
          <p:nvPr/>
        </p:nvSpPr>
        <p:spPr>
          <a:xfrm>
            <a:off x="7680960" y="32735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Goal</a:t>
            </a:r>
            <a:endParaRPr lang="en-US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7680960" y="36576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The shortest distance from A to every other node.</a:t>
            </a:r>
            <a:endParaRPr lang="en-US" sz="1800" dirty="0"/>
          </a:p>
        </p:txBody>
      </p:sp>
      <p:sp>
        <p:nvSpPr>
          <p:cNvPr id="49" name="Problem card"/>
          <p:cNvSpPr/>
          <p:nvPr/>
        </p:nvSpPr>
        <p:spPr>
          <a:xfrm>
            <a:off x="7406640" y="4617720"/>
            <a:ext cx="4233672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7680960" y="47823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Rule</a:t>
            </a:r>
            <a:endParaRPr lang="en-US" sz="1600" dirty="0"/>
          </a:p>
        </p:txBody>
      </p:sp>
      <p:sp>
        <p:nvSpPr>
          <p:cNvPr id="51" name="Text 48"/>
          <p:cNvSpPr txBox="1"/>
          <p:nvPr/>
        </p:nvSpPr>
        <p:spPr>
          <a:xfrm>
            <a:off x="7680960" y="51663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Every edge weight must be zero or more.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Fewest hops is not shortest</a:t>
            </a:r>
            <a:endParaRPr lang="en-US" sz="3600" dirty="0"/>
          </a:p>
        </p:txBody>
      </p:sp>
      <p:sp>
        <p:nvSpPr>
          <p:cNvPr id="4" name="Path card"/>
          <p:cNvSpPr/>
          <p:nvPr/>
        </p:nvSpPr>
        <p:spPr>
          <a:xfrm>
            <a:off x="548640" y="1600200"/>
            <a:ext cx="539496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3175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8288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Fewest hops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46888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 → B → D → F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461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3 hops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7490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4 + 5 + 6 = 15</a:t>
            </a:r>
            <a:endParaRPr lang="en-US" sz="2200" dirty="0"/>
          </a:p>
        </p:txBody>
      </p:sp>
      <p:sp>
        <p:nvSpPr>
          <p:cNvPr id="9" name="Total chip"/>
          <p:cNvSpPr/>
          <p:nvPr/>
        </p:nvSpPr>
        <p:spPr>
          <a:xfrm>
            <a:off x="914400" y="4343400"/>
            <a:ext cx="2011680" cy="54864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14400" y="43434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Total: 15</a:t>
            </a:r>
            <a:endParaRPr lang="en-US" sz="2000" dirty="0"/>
          </a:p>
        </p:txBody>
      </p:sp>
      <p:sp>
        <p:nvSpPr>
          <p:cNvPr id="11" name="Path card"/>
          <p:cNvSpPr/>
          <p:nvPr/>
        </p:nvSpPr>
        <p:spPr>
          <a:xfrm>
            <a:off x="6245352" y="1600200"/>
            <a:ext cx="539496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31750">
            <a:solidFill>
              <a:schemeClr val="accent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611112" y="18288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4"/>
                </a:solidFill>
              </a:rPr>
              <a:t>Dijkstra's shortest path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6611112" y="246888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A → C → B → D → E → F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6611112" y="32461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5 hops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6611112" y="37490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2 + 1 + 5 + 2 + 3 = 13</a:t>
            </a:r>
            <a:endParaRPr lang="en-US" sz="2200" dirty="0"/>
          </a:p>
        </p:txBody>
      </p:sp>
      <p:sp>
        <p:nvSpPr>
          <p:cNvPr id="16" name="Total chip"/>
          <p:cNvSpPr/>
          <p:nvPr/>
        </p:nvSpPr>
        <p:spPr>
          <a:xfrm>
            <a:off x="6611112" y="4343400"/>
            <a:ext cx="2011680" cy="54864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611112" y="43434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Total: 13</a:t>
            </a:r>
            <a:endParaRPr lang="en-US" sz="2000" dirty="0"/>
          </a:p>
        </p:txBody>
      </p:sp>
      <p:sp>
        <p:nvSpPr>
          <p:cNvPr id="18" name="Takeaway banner"/>
          <p:cNvSpPr/>
          <p:nvPr/>
        </p:nvSpPr>
        <p:spPr>
          <a:xfrm>
            <a:off x="548640" y="5440680"/>
            <a:ext cx="11091672" cy="731520"/>
          </a:xfrm>
          <a:prstGeom prst="roundRect">
            <a:avLst>
              <a:gd name="adj" fmla="val 15000"/>
            </a:avLst>
          </a:prstGeom>
          <a:solidFill>
            <a:schemeClr val="tx1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48640" y="54406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Breadth-first search counts edges. Dijkstra adds up the weights.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Three ideas behind Dijkstra</a:t>
            </a:r>
            <a:endParaRPr lang="en-US" sz="3600" dirty="0"/>
          </a:p>
        </p:txBody>
      </p:sp>
      <p:sp>
        <p:nvSpPr>
          <p:cNvPr id="4" name="Idea card"/>
          <p:cNvSpPr/>
          <p:nvPr/>
        </p:nvSpPr>
        <p:spPr>
          <a:xfrm>
            <a:off x="548640" y="1600200"/>
            <a:ext cx="3520440" cy="448056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5" name="Icon circle"/>
          <p:cNvSpPr/>
          <p:nvPr/>
        </p:nvSpPr>
        <p:spPr>
          <a:xfrm>
            <a:off x="868680" y="187452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91690"/>
            <a:ext cx="434340" cy="4343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68680" y="3017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Tentative distances</a:t>
            </a:r>
            <a:endParaRPr lang="en-US" sz="2400" dirty="0"/>
          </a:p>
        </p:txBody>
      </p:sp>
      <p:sp>
        <p:nvSpPr>
          <p:cNvPr id="8" name="Text 4"/>
          <p:cNvSpPr txBox="1"/>
          <p:nvPr/>
        </p:nvSpPr>
        <p:spPr>
          <a:xfrm>
            <a:off x="868680" y="365760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Keep a best-known distance for every node: 0 for the source, ∞ for the rest.</a:t>
            </a:r>
            <a:endParaRPr lang="en-US" sz="1800" dirty="0"/>
          </a:p>
        </p:txBody>
      </p:sp>
      <p:sp>
        <p:nvSpPr>
          <p:cNvPr id="9" name="Idea card"/>
          <p:cNvSpPr/>
          <p:nvPr/>
        </p:nvSpPr>
        <p:spPr>
          <a:xfrm>
            <a:off x="4334256" y="1600200"/>
            <a:ext cx="3520440" cy="448056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4654296" y="187452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1466" y="2091690"/>
            <a:ext cx="434340" cy="4343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654296" y="3017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Visit the closest</a:t>
            </a:r>
            <a:endParaRPr lang="en-US" sz="2400" dirty="0"/>
          </a:p>
        </p:txBody>
      </p:sp>
      <p:sp>
        <p:nvSpPr>
          <p:cNvPr id="13" name="Text 8"/>
          <p:cNvSpPr txBox="1"/>
          <p:nvPr/>
        </p:nvSpPr>
        <p:spPr>
          <a:xfrm>
            <a:off x="4654296" y="365760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Pick the unvisited node with the smallest distance. Its distance is now final.</a:t>
            </a:r>
            <a:endParaRPr lang="en-US" sz="1800" dirty="0"/>
          </a:p>
        </p:txBody>
      </p:sp>
      <p:sp>
        <p:nvSpPr>
          <p:cNvPr id="14" name="Idea card"/>
          <p:cNvSpPr/>
          <p:nvPr/>
        </p:nvSpPr>
        <p:spPr>
          <a:xfrm>
            <a:off x="8119872" y="1600200"/>
            <a:ext cx="3520440" cy="448056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15" name="Icon circle"/>
          <p:cNvSpPr/>
          <p:nvPr/>
        </p:nvSpPr>
        <p:spPr>
          <a:xfrm>
            <a:off x="8439912" y="187452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6" name="Image 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7082" y="2091690"/>
            <a:ext cx="434340" cy="43434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439912" y="3017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Relax its edges</a:t>
            </a:r>
            <a:endParaRPr lang="en-US" sz="2400" dirty="0"/>
          </a:p>
        </p:txBody>
      </p:sp>
      <p:sp>
        <p:nvSpPr>
          <p:cNvPr id="18" name="Text 12"/>
          <p:cNvSpPr txBox="1"/>
          <p:nvPr/>
        </p:nvSpPr>
        <p:spPr>
          <a:xfrm>
            <a:off x="8439912" y="365760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Check whether going through this node gives a neighbour a shorter route.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Relaxation</a:t>
            </a:r>
            <a:endParaRPr lang="en-US" sz="3600" dirty="0"/>
          </a:p>
        </p:txBody>
      </p:sp>
      <p:sp>
        <p:nvSpPr>
          <p:cNvPr id="4" name="Formula banner"/>
          <p:cNvSpPr/>
          <p:nvPr/>
        </p:nvSpPr>
        <p:spPr>
          <a:xfrm>
            <a:off x="548640" y="1554480"/>
            <a:ext cx="11091672" cy="1463040"/>
          </a:xfrm>
          <a:prstGeom prst="roundRect">
            <a:avLst>
              <a:gd name="adj" fmla="val 7500"/>
            </a:avLst>
          </a:prstGeom>
          <a:solidFill>
            <a:schemeClr val="tx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48640" y="1554480"/>
            <a:ext cx="110916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dist[u] + w(u, v) &lt; dist[v]: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dist[v] = dist[u] + w(u, v)</a:t>
            </a:r>
            <a:endParaRPr lang="en-US" sz="2600" dirty="0"/>
          </a:p>
        </p:txBody>
      </p:sp>
      <p:sp>
        <p:nvSpPr>
          <p:cNvPr id="6" name="Relax card"/>
          <p:cNvSpPr/>
          <p:nvPr/>
        </p:nvSpPr>
        <p:spPr>
          <a:xfrm>
            <a:off x="548640" y="3337560"/>
            <a:ext cx="539496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14400" y="35661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4"/>
                </a:solidFill>
              </a:rPr>
              <a:t>Improve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40690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Visiting C, edge C → B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44805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2 + 1 = 3 &lt; 4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521208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Update dist[B] = 3 and prev[B] = C.</a:t>
            </a:r>
            <a:endParaRPr lang="en-US" sz="1800" dirty="0"/>
          </a:p>
        </p:txBody>
      </p:sp>
      <p:sp>
        <p:nvSpPr>
          <p:cNvPr id="11" name="Relax card"/>
          <p:cNvSpPr/>
          <p:nvPr/>
        </p:nvSpPr>
        <p:spPr>
          <a:xfrm>
            <a:off x="6245352" y="3337560"/>
            <a:ext cx="539496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611112" y="35661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5"/>
                </a:solidFill>
              </a:rPr>
              <a:t>Keep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6611112" y="40690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Visiting B, edge B → C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611112" y="44805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3 + 1 = 4 ≥ 2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6611112" y="521208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No change: dist[C] stays 2.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The algorithm in four steps</a:t>
            </a:r>
            <a:endParaRPr lang="en-US" sz="3600" dirty="0"/>
          </a:p>
        </p:txBody>
      </p:sp>
      <p:sp>
        <p:nvSpPr>
          <p:cNvPr id="4" name="Step card"/>
          <p:cNvSpPr/>
          <p:nvPr/>
        </p:nvSpPr>
        <p:spPr>
          <a:xfrm>
            <a:off x="548640" y="1737360"/>
            <a:ext cx="2468880" cy="3931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5" name="Badge"/>
          <p:cNvSpPr/>
          <p:nvPr/>
        </p:nvSpPr>
        <p:spPr>
          <a:xfrm>
            <a:off x="822960" y="20116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1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926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Initialise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566160"/>
            <a:ext cx="2011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dist[source] = 0, every other node = ∞, prev is empty.</a:t>
            </a:r>
            <a:endParaRPr lang="en-US" sz="1800" dirty="0"/>
          </a:p>
        </p:txBody>
      </p:sp>
      <p:sp>
        <p:nvSpPr>
          <p:cNvPr id="9" name="Arrow"/>
          <p:cNvSpPr/>
          <p:nvPr/>
        </p:nvSpPr>
        <p:spPr>
          <a:xfrm>
            <a:off x="3063240" y="3520440"/>
            <a:ext cx="310896" cy="41148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0" name="Step card"/>
          <p:cNvSpPr/>
          <p:nvPr/>
        </p:nvSpPr>
        <p:spPr>
          <a:xfrm>
            <a:off x="3419856" y="1737360"/>
            <a:ext cx="2468880" cy="3931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11" name="Badge"/>
          <p:cNvSpPr/>
          <p:nvPr/>
        </p:nvSpPr>
        <p:spPr>
          <a:xfrm>
            <a:off x="3694176" y="20116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694176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2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3694176" y="2926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Pick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3694176" y="3566160"/>
            <a:ext cx="2011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Choose the unvisited node u with the smallest dist.</a:t>
            </a:r>
            <a:endParaRPr lang="en-US" sz="1800" dirty="0"/>
          </a:p>
        </p:txBody>
      </p:sp>
      <p:sp>
        <p:nvSpPr>
          <p:cNvPr id="15" name="Arrow"/>
          <p:cNvSpPr/>
          <p:nvPr/>
        </p:nvSpPr>
        <p:spPr>
          <a:xfrm>
            <a:off x="5934456" y="3520440"/>
            <a:ext cx="310896" cy="41148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6" name="Step card"/>
          <p:cNvSpPr/>
          <p:nvPr/>
        </p:nvSpPr>
        <p:spPr>
          <a:xfrm>
            <a:off x="6291072" y="1737360"/>
            <a:ext cx="2468880" cy="3931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17" name="Badge"/>
          <p:cNvSpPr/>
          <p:nvPr/>
        </p:nvSpPr>
        <p:spPr>
          <a:xfrm>
            <a:off x="6565392" y="20116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565392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3</a:t>
            </a:r>
            <a:endParaRPr lang="en-US" sz="2400" dirty="0"/>
          </a:p>
        </p:txBody>
      </p:sp>
      <p:sp>
        <p:nvSpPr>
          <p:cNvPr id="19" name="Text 16"/>
          <p:cNvSpPr txBox="1"/>
          <p:nvPr/>
        </p:nvSpPr>
        <p:spPr>
          <a:xfrm>
            <a:off x="6565392" y="2926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Relax</a:t>
            </a:r>
            <a:endParaRPr lang="en-US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6565392" y="3566160"/>
            <a:ext cx="2011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For each unvisited neighbour v of u, try dist[u] + w(u, v).</a:t>
            </a:r>
            <a:endParaRPr lang="en-US" sz="1800" dirty="0"/>
          </a:p>
        </p:txBody>
      </p:sp>
      <p:sp>
        <p:nvSpPr>
          <p:cNvPr id="21" name="Arrow"/>
          <p:cNvSpPr/>
          <p:nvPr/>
        </p:nvSpPr>
        <p:spPr>
          <a:xfrm>
            <a:off x="8805672" y="3520440"/>
            <a:ext cx="310896" cy="41148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22" name="Step card"/>
          <p:cNvSpPr/>
          <p:nvPr/>
        </p:nvSpPr>
        <p:spPr>
          <a:xfrm>
            <a:off x="9162288" y="1737360"/>
            <a:ext cx="2468880" cy="3931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23" name="Badge"/>
          <p:cNvSpPr/>
          <p:nvPr/>
        </p:nvSpPr>
        <p:spPr>
          <a:xfrm>
            <a:off x="9436608" y="20116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9436608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4</a:t>
            </a:r>
            <a:endParaRPr lang="en-US" sz="2400" dirty="0"/>
          </a:p>
        </p:txBody>
      </p:sp>
      <p:sp>
        <p:nvSpPr>
          <p:cNvPr id="25" name="Text 22"/>
          <p:cNvSpPr txBox="1"/>
          <p:nvPr/>
        </p:nvSpPr>
        <p:spPr>
          <a:xfrm>
            <a:off x="9436608" y="2926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Repeat</a:t>
            </a:r>
            <a:endParaRPr lang="en-US" sz="2400" dirty="0"/>
          </a:p>
        </p:txBody>
      </p:sp>
      <p:sp>
        <p:nvSpPr>
          <p:cNvPr id="26" name="Text 23"/>
          <p:cNvSpPr txBox="1"/>
          <p:nvPr/>
        </p:nvSpPr>
        <p:spPr>
          <a:xfrm>
            <a:off x="9436608" y="3566160"/>
            <a:ext cx="2011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Stop when every node is visited. Distances are final.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Start: A = 0, everything else ∞</a:t>
            </a:r>
            <a:endParaRPr lang="en-US" sz="3600" dirty="0"/>
          </a:p>
        </p:txBody>
      </p:sp>
      <p:sp>
        <p:nvSpPr>
          <p:cNvPr id="4" name="Edge AB"/>
          <p:cNvSpPr/>
          <p:nvPr/>
        </p:nvSpPr>
        <p:spPr>
          <a:xfrm flipV="1">
            <a:off x="1239012" y="2504542"/>
            <a:ext cx="1282903" cy="1267358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</a:ln>
        </p:spPr>
      </p:sp>
      <p:sp>
        <p:nvSpPr>
          <p:cNvPr id="5" name="Edge AC"/>
          <p:cNvSpPr/>
          <p:nvPr/>
        </p:nvSpPr>
        <p:spPr>
          <a:xfrm>
            <a:off x="1239012" y="3771900"/>
            <a:ext cx="1282903" cy="1267358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</a:ln>
        </p:spPr>
      </p:sp>
      <p:sp>
        <p:nvSpPr>
          <p:cNvPr id="6" name="Edge BC"/>
          <p:cNvSpPr/>
          <p:nvPr/>
        </p:nvSpPr>
        <p:spPr>
          <a:xfrm>
            <a:off x="2521915" y="2504542"/>
            <a:ext cx="0" cy="2534717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</a:ln>
        </p:spPr>
      </p:sp>
      <p:sp>
        <p:nvSpPr>
          <p:cNvPr id="7" name="Edge BD"/>
          <p:cNvSpPr/>
          <p:nvPr/>
        </p:nvSpPr>
        <p:spPr>
          <a:xfrm>
            <a:off x="2521915" y="2504542"/>
            <a:ext cx="1896466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</a:ln>
        </p:spPr>
      </p:sp>
      <p:sp>
        <p:nvSpPr>
          <p:cNvPr id="8" name="Edge CD"/>
          <p:cNvSpPr/>
          <p:nvPr/>
        </p:nvSpPr>
        <p:spPr>
          <a:xfrm flipV="1">
            <a:off x="2521915" y="2504542"/>
            <a:ext cx="1896466" cy="2534717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</a:ln>
        </p:spPr>
      </p:sp>
      <p:sp>
        <p:nvSpPr>
          <p:cNvPr id="9" name="Edge CE"/>
          <p:cNvSpPr/>
          <p:nvPr/>
        </p:nvSpPr>
        <p:spPr>
          <a:xfrm>
            <a:off x="2521915" y="5039258"/>
            <a:ext cx="1896466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</a:ln>
        </p:spPr>
      </p:sp>
      <p:sp>
        <p:nvSpPr>
          <p:cNvPr id="10" name="Edge DE"/>
          <p:cNvSpPr/>
          <p:nvPr/>
        </p:nvSpPr>
        <p:spPr>
          <a:xfrm>
            <a:off x="4418381" y="2504542"/>
            <a:ext cx="0" cy="2534717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</a:ln>
        </p:spPr>
      </p:sp>
      <p:sp>
        <p:nvSpPr>
          <p:cNvPr id="11" name="Edge DF"/>
          <p:cNvSpPr/>
          <p:nvPr/>
        </p:nvSpPr>
        <p:spPr>
          <a:xfrm>
            <a:off x="4418381" y="2504542"/>
            <a:ext cx="1840687" cy="1267358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</a:ln>
        </p:spPr>
      </p:sp>
      <p:sp>
        <p:nvSpPr>
          <p:cNvPr id="12" name="Edge EF"/>
          <p:cNvSpPr/>
          <p:nvPr/>
        </p:nvSpPr>
        <p:spPr>
          <a:xfrm flipV="1">
            <a:off x="4418381" y="3771900"/>
            <a:ext cx="1840687" cy="1267358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</a:ln>
        </p:spPr>
      </p:sp>
      <p:sp>
        <p:nvSpPr>
          <p:cNvPr id="13" name="Weight AB"/>
          <p:cNvSpPr/>
          <p:nvPr/>
        </p:nvSpPr>
        <p:spPr>
          <a:xfrm>
            <a:off x="1688440" y="2982773"/>
            <a:ext cx="384048" cy="310896"/>
          </a:xfrm>
          <a:prstGeom prst="roundRect">
            <a:avLst>
              <a:gd name="adj" fmla="val 2352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688440" y="2982773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Weight AC"/>
          <p:cNvSpPr/>
          <p:nvPr/>
        </p:nvSpPr>
        <p:spPr>
          <a:xfrm>
            <a:off x="1688440" y="4250131"/>
            <a:ext cx="384048" cy="310896"/>
          </a:xfrm>
          <a:prstGeom prst="roundRect">
            <a:avLst>
              <a:gd name="adj" fmla="val 2352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688440" y="4250131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Weight BC"/>
          <p:cNvSpPr/>
          <p:nvPr/>
        </p:nvSpPr>
        <p:spPr>
          <a:xfrm>
            <a:off x="2329891" y="3616452"/>
            <a:ext cx="384048" cy="310896"/>
          </a:xfrm>
          <a:prstGeom prst="roundRect">
            <a:avLst>
              <a:gd name="adj" fmla="val 2352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329891" y="361645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19" name="Weight BD"/>
          <p:cNvSpPr/>
          <p:nvPr/>
        </p:nvSpPr>
        <p:spPr>
          <a:xfrm>
            <a:off x="3278124" y="2349094"/>
            <a:ext cx="384048" cy="310896"/>
          </a:xfrm>
          <a:prstGeom prst="roundRect">
            <a:avLst>
              <a:gd name="adj" fmla="val 2352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278124" y="2349094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5</a:t>
            </a:r>
            <a:endParaRPr lang="en-US" sz="1400" dirty="0"/>
          </a:p>
        </p:txBody>
      </p:sp>
      <p:sp>
        <p:nvSpPr>
          <p:cNvPr id="21" name="Weight CD"/>
          <p:cNvSpPr/>
          <p:nvPr/>
        </p:nvSpPr>
        <p:spPr>
          <a:xfrm>
            <a:off x="3278124" y="3616452"/>
            <a:ext cx="384048" cy="310896"/>
          </a:xfrm>
          <a:prstGeom prst="roundRect">
            <a:avLst>
              <a:gd name="adj" fmla="val 2352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278124" y="361645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8</a:t>
            </a:r>
            <a:endParaRPr lang="en-US" sz="1400" dirty="0"/>
          </a:p>
        </p:txBody>
      </p:sp>
      <p:sp>
        <p:nvSpPr>
          <p:cNvPr id="23" name="Weight CE"/>
          <p:cNvSpPr/>
          <p:nvPr/>
        </p:nvSpPr>
        <p:spPr>
          <a:xfrm>
            <a:off x="3278124" y="4883810"/>
            <a:ext cx="384048" cy="310896"/>
          </a:xfrm>
          <a:prstGeom prst="roundRect">
            <a:avLst>
              <a:gd name="adj" fmla="val 2352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278124" y="4883810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10</a:t>
            </a:r>
            <a:endParaRPr lang="en-US" sz="1400" dirty="0"/>
          </a:p>
        </p:txBody>
      </p:sp>
      <p:sp>
        <p:nvSpPr>
          <p:cNvPr id="25" name="Weight DE"/>
          <p:cNvSpPr/>
          <p:nvPr/>
        </p:nvSpPr>
        <p:spPr>
          <a:xfrm>
            <a:off x="4226357" y="3616452"/>
            <a:ext cx="384048" cy="310896"/>
          </a:xfrm>
          <a:prstGeom prst="roundRect">
            <a:avLst>
              <a:gd name="adj" fmla="val 2352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226357" y="361645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27" name="Weight DF"/>
          <p:cNvSpPr/>
          <p:nvPr/>
        </p:nvSpPr>
        <p:spPr>
          <a:xfrm>
            <a:off x="5146700" y="2982773"/>
            <a:ext cx="384048" cy="310896"/>
          </a:xfrm>
          <a:prstGeom prst="roundRect">
            <a:avLst>
              <a:gd name="adj" fmla="val 2352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146700" y="2982773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6</a:t>
            </a:r>
            <a:endParaRPr lang="en-US" sz="1400" dirty="0"/>
          </a:p>
        </p:txBody>
      </p:sp>
      <p:sp>
        <p:nvSpPr>
          <p:cNvPr id="29" name="Weight EF"/>
          <p:cNvSpPr/>
          <p:nvPr/>
        </p:nvSpPr>
        <p:spPr>
          <a:xfrm>
            <a:off x="5146700" y="4250131"/>
            <a:ext cx="384048" cy="310896"/>
          </a:xfrm>
          <a:prstGeom prst="roundRect">
            <a:avLst>
              <a:gd name="adj" fmla="val 2352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146700" y="4250131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31" name="Node A"/>
          <p:cNvSpPr/>
          <p:nvPr/>
        </p:nvSpPr>
        <p:spPr>
          <a:xfrm>
            <a:off x="918972" y="3451860"/>
            <a:ext cx="640080" cy="640080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accent2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18972" y="34518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A</a:t>
            </a:r>
            <a:endParaRPr lang="en-US" sz="2200" dirty="0"/>
          </a:p>
        </p:txBody>
      </p:sp>
      <p:sp>
        <p:nvSpPr>
          <p:cNvPr id="33" name="Dist badge"/>
          <p:cNvSpPr/>
          <p:nvPr/>
        </p:nvSpPr>
        <p:spPr>
          <a:xfrm>
            <a:off x="937260" y="3086100"/>
            <a:ext cx="603504" cy="292608"/>
          </a:xfrm>
          <a:prstGeom prst="roundRect">
            <a:avLst>
              <a:gd name="adj" fmla="val 37500"/>
            </a:avLst>
          </a:prstGeom>
          <a:solidFill>
            <a:schemeClr val="tx1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937260" y="3086100"/>
            <a:ext cx="603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0</a:t>
            </a:r>
            <a:endParaRPr lang="en-US" sz="1400" dirty="0"/>
          </a:p>
        </p:txBody>
      </p:sp>
      <p:sp>
        <p:nvSpPr>
          <p:cNvPr id="35" name="Node B"/>
          <p:cNvSpPr/>
          <p:nvPr/>
        </p:nvSpPr>
        <p:spPr>
          <a:xfrm>
            <a:off x="2201875" y="2184502"/>
            <a:ext cx="640080" cy="640080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accent5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2201875" y="218450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B</a:t>
            </a:r>
            <a:endParaRPr lang="en-US" sz="2200" dirty="0"/>
          </a:p>
        </p:txBody>
      </p:sp>
      <p:sp>
        <p:nvSpPr>
          <p:cNvPr id="37" name="Dist badge"/>
          <p:cNvSpPr/>
          <p:nvPr/>
        </p:nvSpPr>
        <p:spPr>
          <a:xfrm>
            <a:off x="2220163" y="1818742"/>
            <a:ext cx="603504" cy="292608"/>
          </a:xfrm>
          <a:prstGeom prst="roundRect">
            <a:avLst>
              <a:gd name="adj" fmla="val 37500"/>
            </a:avLst>
          </a:prstGeom>
          <a:solidFill>
            <a:schemeClr val="tx1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2220163" y="1818742"/>
            <a:ext cx="603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∞</a:t>
            </a:r>
            <a:endParaRPr lang="en-US" sz="1400" dirty="0"/>
          </a:p>
        </p:txBody>
      </p:sp>
      <p:sp>
        <p:nvSpPr>
          <p:cNvPr id="39" name="Node C"/>
          <p:cNvSpPr/>
          <p:nvPr/>
        </p:nvSpPr>
        <p:spPr>
          <a:xfrm>
            <a:off x="2201875" y="4719218"/>
            <a:ext cx="640080" cy="640080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accent5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2201875" y="471921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</a:t>
            </a:r>
            <a:endParaRPr lang="en-US" sz="2200" dirty="0"/>
          </a:p>
        </p:txBody>
      </p:sp>
      <p:sp>
        <p:nvSpPr>
          <p:cNvPr id="41" name="Dist badge"/>
          <p:cNvSpPr/>
          <p:nvPr/>
        </p:nvSpPr>
        <p:spPr>
          <a:xfrm>
            <a:off x="2220163" y="5432450"/>
            <a:ext cx="603504" cy="292608"/>
          </a:xfrm>
          <a:prstGeom prst="roundRect">
            <a:avLst>
              <a:gd name="adj" fmla="val 37500"/>
            </a:avLst>
          </a:prstGeom>
          <a:solidFill>
            <a:schemeClr val="tx1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2220163" y="5432450"/>
            <a:ext cx="603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∞</a:t>
            </a:r>
            <a:endParaRPr lang="en-US" sz="1400" dirty="0"/>
          </a:p>
        </p:txBody>
      </p:sp>
      <p:sp>
        <p:nvSpPr>
          <p:cNvPr id="43" name="Node D"/>
          <p:cNvSpPr/>
          <p:nvPr/>
        </p:nvSpPr>
        <p:spPr>
          <a:xfrm>
            <a:off x="4098341" y="2184502"/>
            <a:ext cx="640080" cy="640080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accent5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4098341" y="218450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D</a:t>
            </a:r>
            <a:endParaRPr lang="en-US" sz="2200" dirty="0"/>
          </a:p>
        </p:txBody>
      </p:sp>
      <p:sp>
        <p:nvSpPr>
          <p:cNvPr id="45" name="Dist badge"/>
          <p:cNvSpPr/>
          <p:nvPr/>
        </p:nvSpPr>
        <p:spPr>
          <a:xfrm>
            <a:off x="4116629" y="1818742"/>
            <a:ext cx="603504" cy="292608"/>
          </a:xfrm>
          <a:prstGeom prst="roundRect">
            <a:avLst>
              <a:gd name="adj" fmla="val 37500"/>
            </a:avLst>
          </a:prstGeom>
          <a:solidFill>
            <a:schemeClr val="tx1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4116629" y="1818742"/>
            <a:ext cx="603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∞</a:t>
            </a:r>
            <a:endParaRPr lang="en-US" sz="1400" dirty="0"/>
          </a:p>
        </p:txBody>
      </p:sp>
      <p:sp>
        <p:nvSpPr>
          <p:cNvPr id="47" name="Node E"/>
          <p:cNvSpPr/>
          <p:nvPr/>
        </p:nvSpPr>
        <p:spPr>
          <a:xfrm>
            <a:off x="4098341" y="4719218"/>
            <a:ext cx="640080" cy="640080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accent5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4098341" y="471921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E</a:t>
            </a:r>
            <a:endParaRPr lang="en-US" sz="2200" dirty="0"/>
          </a:p>
        </p:txBody>
      </p:sp>
      <p:sp>
        <p:nvSpPr>
          <p:cNvPr id="49" name="Dist badge"/>
          <p:cNvSpPr/>
          <p:nvPr/>
        </p:nvSpPr>
        <p:spPr>
          <a:xfrm>
            <a:off x="4116629" y="5432450"/>
            <a:ext cx="603504" cy="292608"/>
          </a:xfrm>
          <a:prstGeom prst="roundRect">
            <a:avLst>
              <a:gd name="adj" fmla="val 37500"/>
            </a:avLst>
          </a:prstGeom>
          <a:solidFill>
            <a:schemeClr val="tx1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4116629" y="5432450"/>
            <a:ext cx="603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∞</a:t>
            </a:r>
            <a:endParaRPr lang="en-US" sz="1400" dirty="0"/>
          </a:p>
        </p:txBody>
      </p:sp>
      <p:sp>
        <p:nvSpPr>
          <p:cNvPr id="51" name="Node F"/>
          <p:cNvSpPr/>
          <p:nvPr/>
        </p:nvSpPr>
        <p:spPr>
          <a:xfrm>
            <a:off x="5939028" y="3451860"/>
            <a:ext cx="640080" cy="640080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accent5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5939028" y="34518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F</a:t>
            </a:r>
            <a:endParaRPr lang="en-US" sz="2200" dirty="0"/>
          </a:p>
        </p:txBody>
      </p:sp>
      <p:sp>
        <p:nvSpPr>
          <p:cNvPr id="53" name="Dist badge"/>
          <p:cNvSpPr/>
          <p:nvPr/>
        </p:nvSpPr>
        <p:spPr>
          <a:xfrm>
            <a:off x="5957316" y="3086100"/>
            <a:ext cx="603504" cy="292608"/>
          </a:xfrm>
          <a:prstGeom prst="roundRect">
            <a:avLst>
              <a:gd name="adj" fmla="val 37500"/>
            </a:avLst>
          </a:prstGeom>
          <a:solidFill>
            <a:schemeClr val="tx1"/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5957316" y="3086100"/>
            <a:ext cx="603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∞</a:t>
            </a:r>
            <a:endParaRPr lang="en-US" sz="1400" dirty="0"/>
          </a:p>
        </p:txBody>
      </p:sp>
      <p:graphicFrame>
        <p:nvGraphicFramePr>
          <p:cNvPr id="9" name="Distanc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1554480"/>
          <a:ext cx="432511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508760"/>
                <a:gridCol w="1536192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Node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dist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prev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∞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∞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∞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∞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∞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6" name="Walkthrough note"/>
          <p:cNvSpPr/>
          <p:nvPr/>
        </p:nvSpPr>
        <p:spPr>
          <a:xfrm>
            <a:off x="7315200" y="4297680"/>
            <a:ext cx="4325112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57" name="Text 53"/>
          <p:cNvSpPr txBox="1"/>
          <p:nvPr/>
        </p:nvSpPr>
        <p:spPr>
          <a:xfrm>
            <a:off x="7543800" y="4434840"/>
            <a:ext cx="3886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Nothing is visited yet. A has the smallest distance, so it is visited first.</a:t>
            </a:r>
            <a:endParaRPr lang="en-US" sz="1600" dirty="0"/>
          </a:p>
        </p:txBody>
      </p:sp>
      <p:sp>
        <p:nvSpPr>
          <p:cNvPr id="58" name="Text 54"/>
          <p:cNvSpPr txBox="1"/>
          <p:nvPr/>
        </p:nvSpPr>
        <p:spPr>
          <a:xfrm>
            <a:off x="548640" y="60533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Green = visited (final). Teal outline = reached, not yet visited.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Visit A, then C</a:t>
            </a:r>
            <a:endParaRPr lang="en-US" sz="3600" dirty="0"/>
          </a:p>
        </p:txBody>
      </p:sp>
      <p:sp>
        <p:nvSpPr>
          <p:cNvPr id="4" name="Edge AB"/>
          <p:cNvSpPr/>
          <p:nvPr/>
        </p:nvSpPr>
        <p:spPr>
          <a:xfrm flipV="1">
            <a:off x="1239012" y="2504542"/>
            <a:ext cx="1282903" cy="1267358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</a:ln>
        </p:spPr>
      </p:sp>
      <p:sp>
        <p:nvSpPr>
          <p:cNvPr id="5" name="Edge AC"/>
          <p:cNvSpPr/>
          <p:nvPr/>
        </p:nvSpPr>
        <p:spPr>
          <a:xfrm>
            <a:off x="1239012" y="3771900"/>
            <a:ext cx="1282903" cy="1267358"/>
          </a:xfrm>
          <a:prstGeom prst="line">
            <a:avLst/>
          </a:prstGeom>
          <a:noFill/>
          <a:ln w="63500">
            <a:solidFill>
              <a:schemeClr val="accent4"/>
            </a:solidFill>
            <a:prstDash val="solid"/>
          </a:ln>
        </p:spPr>
      </p:sp>
      <p:sp>
        <p:nvSpPr>
          <p:cNvPr id="6" name="Edge BC"/>
          <p:cNvSpPr/>
          <p:nvPr/>
        </p:nvSpPr>
        <p:spPr>
          <a:xfrm>
            <a:off x="2521915" y="2504542"/>
            <a:ext cx="0" cy="2534717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</a:ln>
        </p:spPr>
      </p:sp>
      <p:sp>
        <p:nvSpPr>
          <p:cNvPr id="7" name="Edge BD"/>
          <p:cNvSpPr/>
          <p:nvPr/>
        </p:nvSpPr>
        <p:spPr>
          <a:xfrm>
            <a:off x="2521915" y="2504542"/>
            <a:ext cx="1896466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</a:ln>
        </p:spPr>
      </p:sp>
      <p:sp>
        <p:nvSpPr>
          <p:cNvPr id="8" name="Edge CD"/>
          <p:cNvSpPr/>
          <p:nvPr/>
        </p:nvSpPr>
        <p:spPr>
          <a:xfrm flipV="1">
            <a:off x="2521915" y="2504542"/>
            <a:ext cx="1896466" cy="2534717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</a:ln>
        </p:spPr>
      </p:sp>
      <p:sp>
        <p:nvSpPr>
          <p:cNvPr id="9" name="Edge CE"/>
          <p:cNvSpPr/>
          <p:nvPr/>
        </p:nvSpPr>
        <p:spPr>
          <a:xfrm>
            <a:off x="2521915" y="5039258"/>
            <a:ext cx="1896466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</a:ln>
        </p:spPr>
      </p:sp>
      <p:sp>
        <p:nvSpPr>
          <p:cNvPr id="10" name="Edge DE"/>
          <p:cNvSpPr/>
          <p:nvPr/>
        </p:nvSpPr>
        <p:spPr>
          <a:xfrm>
            <a:off x="4418381" y="2504542"/>
            <a:ext cx="0" cy="2534717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</a:ln>
        </p:spPr>
      </p:sp>
      <p:sp>
        <p:nvSpPr>
          <p:cNvPr id="11" name="Edge DF"/>
          <p:cNvSpPr/>
          <p:nvPr/>
        </p:nvSpPr>
        <p:spPr>
          <a:xfrm>
            <a:off x="4418381" y="2504542"/>
            <a:ext cx="1840687" cy="1267358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</a:ln>
        </p:spPr>
      </p:sp>
      <p:sp>
        <p:nvSpPr>
          <p:cNvPr id="12" name="Edge EF"/>
          <p:cNvSpPr/>
          <p:nvPr/>
        </p:nvSpPr>
        <p:spPr>
          <a:xfrm flipV="1">
            <a:off x="4418381" y="3771900"/>
            <a:ext cx="1840687" cy="1267358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</a:ln>
        </p:spPr>
      </p:sp>
      <p:sp>
        <p:nvSpPr>
          <p:cNvPr id="13" name="Weight AB"/>
          <p:cNvSpPr/>
          <p:nvPr/>
        </p:nvSpPr>
        <p:spPr>
          <a:xfrm>
            <a:off x="1688440" y="2982773"/>
            <a:ext cx="384048" cy="310896"/>
          </a:xfrm>
          <a:prstGeom prst="roundRect">
            <a:avLst>
              <a:gd name="adj" fmla="val 2352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688440" y="2982773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Weight AC"/>
          <p:cNvSpPr/>
          <p:nvPr/>
        </p:nvSpPr>
        <p:spPr>
          <a:xfrm>
            <a:off x="1688440" y="4250131"/>
            <a:ext cx="384048" cy="310896"/>
          </a:xfrm>
          <a:prstGeom prst="roundRect">
            <a:avLst>
              <a:gd name="adj" fmla="val 2352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688440" y="4250131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Weight BC"/>
          <p:cNvSpPr/>
          <p:nvPr/>
        </p:nvSpPr>
        <p:spPr>
          <a:xfrm>
            <a:off x="2329891" y="3616452"/>
            <a:ext cx="384048" cy="310896"/>
          </a:xfrm>
          <a:prstGeom prst="roundRect">
            <a:avLst>
              <a:gd name="adj" fmla="val 2352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329891" y="361645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19" name="Weight BD"/>
          <p:cNvSpPr/>
          <p:nvPr/>
        </p:nvSpPr>
        <p:spPr>
          <a:xfrm>
            <a:off x="3278124" y="2349094"/>
            <a:ext cx="384048" cy="310896"/>
          </a:xfrm>
          <a:prstGeom prst="roundRect">
            <a:avLst>
              <a:gd name="adj" fmla="val 2352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278124" y="2349094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5</a:t>
            </a:r>
            <a:endParaRPr lang="en-US" sz="1400" dirty="0"/>
          </a:p>
        </p:txBody>
      </p:sp>
      <p:sp>
        <p:nvSpPr>
          <p:cNvPr id="21" name="Weight CD"/>
          <p:cNvSpPr/>
          <p:nvPr/>
        </p:nvSpPr>
        <p:spPr>
          <a:xfrm>
            <a:off x="3278124" y="3616452"/>
            <a:ext cx="384048" cy="310896"/>
          </a:xfrm>
          <a:prstGeom prst="roundRect">
            <a:avLst>
              <a:gd name="adj" fmla="val 2352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278124" y="361645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8</a:t>
            </a:r>
            <a:endParaRPr lang="en-US" sz="1400" dirty="0"/>
          </a:p>
        </p:txBody>
      </p:sp>
      <p:sp>
        <p:nvSpPr>
          <p:cNvPr id="23" name="Weight CE"/>
          <p:cNvSpPr/>
          <p:nvPr/>
        </p:nvSpPr>
        <p:spPr>
          <a:xfrm>
            <a:off x="3278124" y="4883810"/>
            <a:ext cx="384048" cy="310896"/>
          </a:xfrm>
          <a:prstGeom prst="roundRect">
            <a:avLst>
              <a:gd name="adj" fmla="val 2352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278124" y="4883810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10</a:t>
            </a:r>
            <a:endParaRPr lang="en-US" sz="1400" dirty="0"/>
          </a:p>
        </p:txBody>
      </p:sp>
      <p:sp>
        <p:nvSpPr>
          <p:cNvPr id="25" name="Weight DE"/>
          <p:cNvSpPr/>
          <p:nvPr/>
        </p:nvSpPr>
        <p:spPr>
          <a:xfrm>
            <a:off x="4226357" y="3616452"/>
            <a:ext cx="384048" cy="310896"/>
          </a:xfrm>
          <a:prstGeom prst="roundRect">
            <a:avLst>
              <a:gd name="adj" fmla="val 2352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226357" y="361645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27" name="Weight DF"/>
          <p:cNvSpPr/>
          <p:nvPr/>
        </p:nvSpPr>
        <p:spPr>
          <a:xfrm>
            <a:off x="5146700" y="2982773"/>
            <a:ext cx="384048" cy="310896"/>
          </a:xfrm>
          <a:prstGeom prst="roundRect">
            <a:avLst>
              <a:gd name="adj" fmla="val 2352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146700" y="2982773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6</a:t>
            </a:r>
            <a:endParaRPr lang="en-US" sz="1400" dirty="0"/>
          </a:p>
        </p:txBody>
      </p:sp>
      <p:sp>
        <p:nvSpPr>
          <p:cNvPr id="29" name="Weight EF"/>
          <p:cNvSpPr/>
          <p:nvPr/>
        </p:nvSpPr>
        <p:spPr>
          <a:xfrm>
            <a:off x="5146700" y="4250131"/>
            <a:ext cx="384048" cy="310896"/>
          </a:xfrm>
          <a:prstGeom prst="roundRect">
            <a:avLst>
              <a:gd name="adj" fmla="val 2352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146700" y="4250131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31" name="Node A"/>
          <p:cNvSpPr/>
          <p:nvPr/>
        </p:nvSpPr>
        <p:spPr>
          <a:xfrm>
            <a:off x="918972" y="3451860"/>
            <a:ext cx="640080" cy="64008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4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18972" y="34518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A</a:t>
            </a:r>
            <a:endParaRPr lang="en-US" sz="2200" dirty="0"/>
          </a:p>
        </p:txBody>
      </p:sp>
      <p:sp>
        <p:nvSpPr>
          <p:cNvPr id="33" name="Dist badge"/>
          <p:cNvSpPr/>
          <p:nvPr/>
        </p:nvSpPr>
        <p:spPr>
          <a:xfrm>
            <a:off x="937260" y="3086100"/>
            <a:ext cx="603504" cy="292608"/>
          </a:xfrm>
          <a:prstGeom prst="roundRect">
            <a:avLst>
              <a:gd name="adj" fmla="val 37500"/>
            </a:avLst>
          </a:prstGeom>
          <a:solidFill>
            <a:schemeClr val="tx1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937260" y="3086100"/>
            <a:ext cx="603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0</a:t>
            </a:r>
            <a:endParaRPr lang="en-US" sz="1400" dirty="0"/>
          </a:p>
        </p:txBody>
      </p:sp>
      <p:sp>
        <p:nvSpPr>
          <p:cNvPr id="35" name="Node B"/>
          <p:cNvSpPr/>
          <p:nvPr/>
        </p:nvSpPr>
        <p:spPr>
          <a:xfrm>
            <a:off x="2201875" y="2184502"/>
            <a:ext cx="640080" cy="640080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accent2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2201875" y="218450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B</a:t>
            </a:r>
            <a:endParaRPr lang="en-US" sz="2200" dirty="0"/>
          </a:p>
        </p:txBody>
      </p:sp>
      <p:sp>
        <p:nvSpPr>
          <p:cNvPr id="37" name="Dist badge"/>
          <p:cNvSpPr/>
          <p:nvPr/>
        </p:nvSpPr>
        <p:spPr>
          <a:xfrm>
            <a:off x="2220163" y="1818742"/>
            <a:ext cx="603504" cy="292608"/>
          </a:xfrm>
          <a:prstGeom prst="roundRect">
            <a:avLst>
              <a:gd name="adj" fmla="val 37500"/>
            </a:avLst>
          </a:prstGeom>
          <a:solidFill>
            <a:schemeClr val="tx1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2220163" y="1818742"/>
            <a:ext cx="603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39" name="Node C"/>
          <p:cNvSpPr/>
          <p:nvPr/>
        </p:nvSpPr>
        <p:spPr>
          <a:xfrm>
            <a:off x="2201875" y="4719218"/>
            <a:ext cx="640080" cy="64008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4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2201875" y="471921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C</a:t>
            </a:r>
            <a:endParaRPr lang="en-US" sz="2200" dirty="0"/>
          </a:p>
        </p:txBody>
      </p:sp>
      <p:sp>
        <p:nvSpPr>
          <p:cNvPr id="41" name="Dist badge"/>
          <p:cNvSpPr/>
          <p:nvPr/>
        </p:nvSpPr>
        <p:spPr>
          <a:xfrm>
            <a:off x="2220163" y="5432450"/>
            <a:ext cx="603504" cy="292608"/>
          </a:xfrm>
          <a:prstGeom prst="roundRect">
            <a:avLst>
              <a:gd name="adj" fmla="val 37500"/>
            </a:avLst>
          </a:prstGeom>
          <a:solidFill>
            <a:schemeClr val="tx1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2220163" y="5432450"/>
            <a:ext cx="603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43" name="Node D"/>
          <p:cNvSpPr/>
          <p:nvPr/>
        </p:nvSpPr>
        <p:spPr>
          <a:xfrm>
            <a:off x="4098341" y="2184502"/>
            <a:ext cx="640080" cy="640080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accent2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4098341" y="218450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D</a:t>
            </a:r>
            <a:endParaRPr lang="en-US" sz="2200" dirty="0"/>
          </a:p>
        </p:txBody>
      </p:sp>
      <p:sp>
        <p:nvSpPr>
          <p:cNvPr id="45" name="Dist badge"/>
          <p:cNvSpPr/>
          <p:nvPr/>
        </p:nvSpPr>
        <p:spPr>
          <a:xfrm>
            <a:off x="4116629" y="1818742"/>
            <a:ext cx="603504" cy="292608"/>
          </a:xfrm>
          <a:prstGeom prst="roundRect">
            <a:avLst>
              <a:gd name="adj" fmla="val 37500"/>
            </a:avLst>
          </a:prstGeom>
          <a:solidFill>
            <a:schemeClr val="tx1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4116629" y="1818742"/>
            <a:ext cx="603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10</a:t>
            </a:r>
            <a:endParaRPr lang="en-US" sz="1400" dirty="0"/>
          </a:p>
        </p:txBody>
      </p:sp>
      <p:sp>
        <p:nvSpPr>
          <p:cNvPr id="47" name="Node E"/>
          <p:cNvSpPr/>
          <p:nvPr/>
        </p:nvSpPr>
        <p:spPr>
          <a:xfrm>
            <a:off x="4098341" y="4719218"/>
            <a:ext cx="640080" cy="640080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accent2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4098341" y="471921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E</a:t>
            </a:r>
            <a:endParaRPr lang="en-US" sz="2200" dirty="0"/>
          </a:p>
        </p:txBody>
      </p:sp>
      <p:sp>
        <p:nvSpPr>
          <p:cNvPr id="49" name="Dist badge"/>
          <p:cNvSpPr/>
          <p:nvPr/>
        </p:nvSpPr>
        <p:spPr>
          <a:xfrm>
            <a:off x="4116629" y="5432450"/>
            <a:ext cx="603504" cy="292608"/>
          </a:xfrm>
          <a:prstGeom prst="roundRect">
            <a:avLst>
              <a:gd name="adj" fmla="val 37500"/>
            </a:avLst>
          </a:prstGeom>
          <a:solidFill>
            <a:schemeClr val="tx1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4116629" y="5432450"/>
            <a:ext cx="603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12</a:t>
            </a:r>
            <a:endParaRPr lang="en-US" sz="1400" dirty="0"/>
          </a:p>
        </p:txBody>
      </p:sp>
      <p:sp>
        <p:nvSpPr>
          <p:cNvPr id="51" name="Node F"/>
          <p:cNvSpPr/>
          <p:nvPr/>
        </p:nvSpPr>
        <p:spPr>
          <a:xfrm>
            <a:off x="5939028" y="3451860"/>
            <a:ext cx="640080" cy="640080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accent5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5939028" y="34518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F</a:t>
            </a:r>
            <a:endParaRPr lang="en-US" sz="2200" dirty="0"/>
          </a:p>
        </p:txBody>
      </p:sp>
      <p:sp>
        <p:nvSpPr>
          <p:cNvPr id="53" name="Dist badge"/>
          <p:cNvSpPr/>
          <p:nvPr/>
        </p:nvSpPr>
        <p:spPr>
          <a:xfrm>
            <a:off x="5957316" y="3086100"/>
            <a:ext cx="603504" cy="292608"/>
          </a:xfrm>
          <a:prstGeom prst="roundRect">
            <a:avLst>
              <a:gd name="adj" fmla="val 37500"/>
            </a:avLst>
          </a:prstGeom>
          <a:solidFill>
            <a:schemeClr val="tx1"/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5957316" y="3086100"/>
            <a:ext cx="603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∞</a:t>
            </a:r>
            <a:endParaRPr lang="en-US" sz="1400" dirty="0"/>
          </a:p>
        </p:txBody>
      </p:sp>
      <p:graphicFrame>
        <p:nvGraphicFramePr>
          <p:cNvPr id="10" name="Distanc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1554480"/>
          <a:ext cx="432511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508760"/>
                <a:gridCol w="1536192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Node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dist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prev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F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F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FE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F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F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FE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∞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6" name="Walkthrough note"/>
          <p:cNvSpPr/>
          <p:nvPr/>
        </p:nvSpPr>
        <p:spPr>
          <a:xfrm>
            <a:off x="7315200" y="4297680"/>
            <a:ext cx="4325112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57" name="Text 53"/>
          <p:cNvSpPr txBox="1"/>
          <p:nvPr/>
        </p:nvSpPr>
        <p:spPr>
          <a:xfrm>
            <a:off x="7543800" y="4434840"/>
            <a:ext cx="3886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Visit A: B = 4, C = 2.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Visit C: B = 2 + 1 = 3 (better than 4), D = 2 + 8 = 10, E = 2 + 10 = 12.</a:t>
            </a:r>
            <a:endParaRPr lang="en-US" sz="1600" dirty="0"/>
          </a:p>
        </p:txBody>
      </p:sp>
      <p:sp>
        <p:nvSpPr>
          <p:cNvPr id="58" name="Text 54"/>
          <p:cNvSpPr txBox="1"/>
          <p:nvPr/>
        </p:nvSpPr>
        <p:spPr>
          <a:xfrm>
            <a:off x="548640" y="60533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Green = visited (final). Teal outline = reached, not yet visited.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Visit B, then D</a:t>
            </a:r>
            <a:endParaRPr lang="en-US" sz="3600" dirty="0"/>
          </a:p>
        </p:txBody>
      </p:sp>
      <p:sp>
        <p:nvSpPr>
          <p:cNvPr id="4" name="Edge AB"/>
          <p:cNvSpPr/>
          <p:nvPr/>
        </p:nvSpPr>
        <p:spPr>
          <a:xfrm flipV="1">
            <a:off x="1239012" y="2504542"/>
            <a:ext cx="1282903" cy="1267358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</a:ln>
        </p:spPr>
      </p:sp>
      <p:sp>
        <p:nvSpPr>
          <p:cNvPr id="5" name="Edge AC"/>
          <p:cNvSpPr/>
          <p:nvPr/>
        </p:nvSpPr>
        <p:spPr>
          <a:xfrm>
            <a:off x="1239012" y="3771900"/>
            <a:ext cx="1282903" cy="1267358"/>
          </a:xfrm>
          <a:prstGeom prst="line">
            <a:avLst/>
          </a:prstGeom>
          <a:noFill/>
          <a:ln w="63500">
            <a:solidFill>
              <a:schemeClr val="accent4"/>
            </a:solidFill>
            <a:prstDash val="solid"/>
          </a:ln>
        </p:spPr>
      </p:sp>
      <p:sp>
        <p:nvSpPr>
          <p:cNvPr id="6" name="Edge BC"/>
          <p:cNvSpPr/>
          <p:nvPr/>
        </p:nvSpPr>
        <p:spPr>
          <a:xfrm>
            <a:off x="2521915" y="2504542"/>
            <a:ext cx="0" cy="2534717"/>
          </a:xfrm>
          <a:prstGeom prst="line">
            <a:avLst/>
          </a:prstGeom>
          <a:noFill/>
          <a:ln w="63500">
            <a:solidFill>
              <a:schemeClr val="accent4"/>
            </a:solidFill>
            <a:prstDash val="solid"/>
          </a:ln>
        </p:spPr>
      </p:sp>
      <p:sp>
        <p:nvSpPr>
          <p:cNvPr id="7" name="Edge BD"/>
          <p:cNvSpPr/>
          <p:nvPr/>
        </p:nvSpPr>
        <p:spPr>
          <a:xfrm>
            <a:off x="2521915" y="2504542"/>
            <a:ext cx="1896466" cy="0"/>
          </a:xfrm>
          <a:prstGeom prst="line">
            <a:avLst/>
          </a:prstGeom>
          <a:noFill/>
          <a:ln w="63500">
            <a:solidFill>
              <a:schemeClr val="accent4"/>
            </a:solidFill>
            <a:prstDash val="solid"/>
          </a:ln>
        </p:spPr>
      </p:sp>
      <p:sp>
        <p:nvSpPr>
          <p:cNvPr id="8" name="Edge CD"/>
          <p:cNvSpPr/>
          <p:nvPr/>
        </p:nvSpPr>
        <p:spPr>
          <a:xfrm flipV="1">
            <a:off x="2521915" y="2504542"/>
            <a:ext cx="1896466" cy="2534717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</a:ln>
        </p:spPr>
      </p:sp>
      <p:sp>
        <p:nvSpPr>
          <p:cNvPr id="9" name="Edge CE"/>
          <p:cNvSpPr/>
          <p:nvPr/>
        </p:nvSpPr>
        <p:spPr>
          <a:xfrm>
            <a:off x="2521915" y="5039258"/>
            <a:ext cx="1896466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</a:ln>
        </p:spPr>
      </p:sp>
      <p:sp>
        <p:nvSpPr>
          <p:cNvPr id="10" name="Edge DE"/>
          <p:cNvSpPr/>
          <p:nvPr/>
        </p:nvSpPr>
        <p:spPr>
          <a:xfrm>
            <a:off x="4418381" y="2504542"/>
            <a:ext cx="0" cy="2534717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</a:ln>
        </p:spPr>
      </p:sp>
      <p:sp>
        <p:nvSpPr>
          <p:cNvPr id="11" name="Edge DF"/>
          <p:cNvSpPr/>
          <p:nvPr/>
        </p:nvSpPr>
        <p:spPr>
          <a:xfrm>
            <a:off x="4418381" y="2504542"/>
            <a:ext cx="1840687" cy="1267358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</a:ln>
        </p:spPr>
      </p:sp>
      <p:sp>
        <p:nvSpPr>
          <p:cNvPr id="12" name="Edge EF"/>
          <p:cNvSpPr/>
          <p:nvPr/>
        </p:nvSpPr>
        <p:spPr>
          <a:xfrm flipV="1">
            <a:off x="4418381" y="3771900"/>
            <a:ext cx="1840687" cy="1267358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</a:ln>
        </p:spPr>
      </p:sp>
      <p:sp>
        <p:nvSpPr>
          <p:cNvPr id="13" name="Weight AB"/>
          <p:cNvSpPr/>
          <p:nvPr/>
        </p:nvSpPr>
        <p:spPr>
          <a:xfrm>
            <a:off x="1688440" y="2982773"/>
            <a:ext cx="384048" cy="310896"/>
          </a:xfrm>
          <a:prstGeom prst="roundRect">
            <a:avLst>
              <a:gd name="adj" fmla="val 2352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688440" y="2982773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Weight AC"/>
          <p:cNvSpPr/>
          <p:nvPr/>
        </p:nvSpPr>
        <p:spPr>
          <a:xfrm>
            <a:off x="1688440" y="4250131"/>
            <a:ext cx="384048" cy="310896"/>
          </a:xfrm>
          <a:prstGeom prst="roundRect">
            <a:avLst>
              <a:gd name="adj" fmla="val 2352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688440" y="4250131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Weight BC"/>
          <p:cNvSpPr/>
          <p:nvPr/>
        </p:nvSpPr>
        <p:spPr>
          <a:xfrm>
            <a:off x="2329891" y="3616452"/>
            <a:ext cx="384048" cy="310896"/>
          </a:xfrm>
          <a:prstGeom prst="roundRect">
            <a:avLst>
              <a:gd name="adj" fmla="val 2352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329891" y="361645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19" name="Weight BD"/>
          <p:cNvSpPr/>
          <p:nvPr/>
        </p:nvSpPr>
        <p:spPr>
          <a:xfrm>
            <a:off x="3278124" y="2349094"/>
            <a:ext cx="384048" cy="310896"/>
          </a:xfrm>
          <a:prstGeom prst="roundRect">
            <a:avLst>
              <a:gd name="adj" fmla="val 2352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278124" y="2349094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5</a:t>
            </a:r>
            <a:endParaRPr lang="en-US" sz="1400" dirty="0"/>
          </a:p>
        </p:txBody>
      </p:sp>
      <p:sp>
        <p:nvSpPr>
          <p:cNvPr id="21" name="Weight CD"/>
          <p:cNvSpPr/>
          <p:nvPr/>
        </p:nvSpPr>
        <p:spPr>
          <a:xfrm>
            <a:off x="3278124" y="3616452"/>
            <a:ext cx="384048" cy="310896"/>
          </a:xfrm>
          <a:prstGeom prst="roundRect">
            <a:avLst>
              <a:gd name="adj" fmla="val 2352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278124" y="361645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8</a:t>
            </a:r>
            <a:endParaRPr lang="en-US" sz="1400" dirty="0"/>
          </a:p>
        </p:txBody>
      </p:sp>
      <p:sp>
        <p:nvSpPr>
          <p:cNvPr id="23" name="Weight CE"/>
          <p:cNvSpPr/>
          <p:nvPr/>
        </p:nvSpPr>
        <p:spPr>
          <a:xfrm>
            <a:off x="3278124" y="4883810"/>
            <a:ext cx="384048" cy="310896"/>
          </a:xfrm>
          <a:prstGeom prst="roundRect">
            <a:avLst>
              <a:gd name="adj" fmla="val 2352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278124" y="4883810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10</a:t>
            </a:r>
            <a:endParaRPr lang="en-US" sz="1400" dirty="0"/>
          </a:p>
        </p:txBody>
      </p:sp>
      <p:sp>
        <p:nvSpPr>
          <p:cNvPr id="25" name="Weight DE"/>
          <p:cNvSpPr/>
          <p:nvPr/>
        </p:nvSpPr>
        <p:spPr>
          <a:xfrm>
            <a:off x="4226357" y="3616452"/>
            <a:ext cx="384048" cy="310896"/>
          </a:xfrm>
          <a:prstGeom prst="roundRect">
            <a:avLst>
              <a:gd name="adj" fmla="val 2352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226357" y="361645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27" name="Weight DF"/>
          <p:cNvSpPr/>
          <p:nvPr/>
        </p:nvSpPr>
        <p:spPr>
          <a:xfrm>
            <a:off x="5146700" y="2982773"/>
            <a:ext cx="384048" cy="310896"/>
          </a:xfrm>
          <a:prstGeom prst="roundRect">
            <a:avLst>
              <a:gd name="adj" fmla="val 2352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146700" y="2982773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6</a:t>
            </a:r>
            <a:endParaRPr lang="en-US" sz="1400" dirty="0"/>
          </a:p>
        </p:txBody>
      </p:sp>
      <p:sp>
        <p:nvSpPr>
          <p:cNvPr id="29" name="Weight EF"/>
          <p:cNvSpPr/>
          <p:nvPr/>
        </p:nvSpPr>
        <p:spPr>
          <a:xfrm>
            <a:off x="5146700" y="4250131"/>
            <a:ext cx="384048" cy="310896"/>
          </a:xfrm>
          <a:prstGeom prst="roundRect">
            <a:avLst>
              <a:gd name="adj" fmla="val 2352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146700" y="4250131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31" name="Node A"/>
          <p:cNvSpPr/>
          <p:nvPr/>
        </p:nvSpPr>
        <p:spPr>
          <a:xfrm>
            <a:off x="918972" y="3451860"/>
            <a:ext cx="640080" cy="64008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4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18972" y="34518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A</a:t>
            </a:r>
            <a:endParaRPr lang="en-US" sz="2200" dirty="0"/>
          </a:p>
        </p:txBody>
      </p:sp>
      <p:sp>
        <p:nvSpPr>
          <p:cNvPr id="33" name="Dist badge"/>
          <p:cNvSpPr/>
          <p:nvPr/>
        </p:nvSpPr>
        <p:spPr>
          <a:xfrm>
            <a:off x="937260" y="3086100"/>
            <a:ext cx="603504" cy="292608"/>
          </a:xfrm>
          <a:prstGeom prst="roundRect">
            <a:avLst>
              <a:gd name="adj" fmla="val 37500"/>
            </a:avLst>
          </a:prstGeom>
          <a:solidFill>
            <a:schemeClr val="tx1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937260" y="3086100"/>
            <a:ext cx="603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0</a:t>
            </a:r>
            <a:endParaRPr lang="en-US" sz="1400" dirty="0"/>
          </a:p>
        </p:txBody>
      </p:sp>
      <p:sp>
        <p:nvSpPr>
          <p:cNvPr id="35" name="Node B"/>
          <p:cNvSpPr/>
          <p:nvPr/>
        </p:nvSpPr>
        <p:spPr>
          <a:xfrm>
            <a:off x="2201875" y="2184502"/>
            <a:ext cx="640080" cy="64008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4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2201875" y="218450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B</a:t>
            </a:r>
            <a:endParaRPr lang="en-US" sz="2200" dirty="0"/>
          </a:p>
        </p:txBody>
      </p:sp>
      <p:sp>
        <p:nvSpPr>
          <p:cNvPr id="37" name="Dist badge"/>
          <p:cNvSpPr/>
          <p:nvPr/>
        </p:nvSpPr>
        <p:spPr>
          <a:xfrm>
            <a:off x="2220163" y="1818742"/>
            <a:ext cx="603504" cy="292608"/>
          </a:xfrm>
          <a:prstGeom prst="roundRect">
            <a:avLst>
              <a:gd name="adj" fmla="val 37500"/>
            </a:avLst>
          </a:prstGeom>
          <a:solidFill>
            <a:schemeClr val="tx1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2220163" y="1818742"/>
            <a:ext cx="603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39" name="Node C"/>
          <p:cNvSpPr/>
          <p:nvPr/>
        </p:nvSpPr>
        <p:spPr>
          <a:xfrm>
            <a:off x="2201875" y="4719218"/>
            <a:ext cx="640080" cy="64008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4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2201875" y="471921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C</a:t>
            </a:r>
            <a:endParaRPr lang="en-US" sz="2200" dirty="0"/>
          </a:p>
        </p:txBody>
      </p:sp>
      <p:sp>
        <p:nvSpPr>
          <p:cNvPr id="41" name="Dist badge"/>
          <p:cNvSpPr/>
          <p:nvPr/>
        </p:nvSpPr>
        <p:spPr>
          <a:xfrm>
            <a:off x="2220163" y="5432450"/>
            <a:ext cx="603504" cy="292608"/>
          </a:xfrm>
          <a:prstGeom prst="roundRect">
            <a:avLst>
              <a:gd name="adj" fmla="val 37500"/>
            </a:avLst>
          </a:prstGeom>
          <a:solidFill>
            <a:schemeClr val="tx1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2220163" y="5432450"/>
            <a:ext cx="603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43" name="Node D"/>
          <p:cNvSpPr/>
          <p:nvPr/>
        </p:nvSpPr>
        <p:spPr>
          <a:xfrm>
            <a:off x="4098341" y="2184502"/>
            <a:ext cx="640080" cy="64008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4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4098341" y="218450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D</a:t>
            </a:r>
            <a:endParaRPr lang="en-US" sz="2200" dirty="0"/>
          </a:p>
        </p:txBody>
      </p:sp>
      <p:sp>
        <p:nvSpPr>
          <p:cNvPr id="45" name="Dist badge"/>
          <p:cNvSpPr/>
          <p:nvPr/>
        </p:nvSpPr>
        <p:spPr>
          <a:xfrm>
            <a:off x="4116629" y="1818742"/>
            <a:ext cx="603504" cy="292608"/>
          </a:xfrm>
          <a:prstGeom prst="roundRect">
            <a:avLst>
              <a:gd name="adj" fmla="val 37500"/>
            </a:avLst>
          </a:prstGeom>
          <a:solidFill>
            <a:schemeClr val="tx1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4116629" y="1818742"/>
            <a:ext cx="603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8</a:t>
            </a:r>
            <a:endParaRPr lang="en-US" sz="1400" dirty="0"/>
          </a:p>
        </p:txBody>
      </p:sp>
      <p:sp>
        <p:nvSpPr>
          <p:cNvPr id="47" name="Node E"/>
          <p:cNvSpPr/>
          <p:nvPr/>
        </p:nvSpPr>
        <p:spPr>
          <a:xfrm>
            <a:off x="4098341" y="4719218"/>
            <a:ext cx="640080" cy="640080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accent2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4098341" y="471921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E</a:t>
            </a:r>
            <a:endParaRPr lang="en-US" sz="2200" dirty="0"/>
          </a:p>
        </p:txBody>
      </p:sp>
      <p:sp>
        <p:nvSpPr>
          <p:cNvPr id="49" name="Dist badge"/>
          <p:cNvSpPr/>
          <p:nvPr/>
        </p:nvSpPr>
        <p:spPr>
          <a:xfrm>
            <a:off x="4116629" y="5432450"/>
            <a:ext cx="603504" cy="292608"/>
          </a:xfrm>
          <a:prstGeom prst="roundRect">
            <a:avLst>
              <a:gd name="adj" fmla="val 37500"/>
            </a:avLst>
          </a:prstGeom>
          <a:solidFill>
            <a:schemeClr val="tx1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4116629" y="5432450"/>
            <a:ext cx="603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10</a:t>
            </a:r>
            <a:endParaRPr lang="en-US" sz="1400" dirty="0"/>
          </a:p>
        </p:txBody>
      </p:sp>
      <p:sp>
        <p:nvSpPr>
          <p:cNvPr id="51" name="Node F"/>
          <p:cNvSpPr/>
          <p:nvPr/>
        </p:nvSpPr>
        <p:spPr>
          <a:xfrm>
            <a:off x="5939028" y="3451860"/>
            <a:ext cx="640080" cy="640080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accent2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5939028" y="34518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F</a:t>
            </a:r>
            <a:endParaRPr lang="en-US" sz="2200" dirty="0"/>
          </a:p>
        </p:txBody>
      </p:sp>
      <p:sp>
        <p:nvSpPr>
          <p:cNvPr id="53" name="Dist badge"/>
          <p:cNvSpPr/>
          <p:nvPr/>
        </p:nvSpPr>
        <p:spPr>
          <a:xfrm>
            <a:off x="5957316" y="3086100"/>
            <a:ext cx="603504" cy="292608"/>
          </a:xfrm>
          <a:prstGeom prst="roundRect">
            <a:avLst>
              <a:gd name="adj" fmla="val 37500"/>
            </a:avLst>
          </a:prstGeom>
          <a:solidFill>
            <a:schemeClr val="tx1"/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5957316" y="3086100"/>
            <a:ext cx="603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14</a:t>
            </a:r>
            <a:endParaRPr lang="en-US" sz="1400" dirty="0"/>
          </a:p>
        </p:txBody>
      </p:sp>
      <p:graphicFrame>
        <p:nvGraphicFramePr>
          <p:cNvPr id="11" name="Distanc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1554480"/>
          <a:ext cx="432511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508760"/>
                <a:gridCol w="1536192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Node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dist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prev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F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F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FE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F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F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FE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F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F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FE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F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F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FE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6" name="Walkthrough note"/>
          <p:cNvSpPr/>
          <p:nvPr/>
        </p:nvSpPr>
        <p:spPr>
          <a:xfrm>
            <a:off x="7315200" y="4297680"/>
            <a:ext cx="4325112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57" name="Text 53"/>
          <p:cNvSpPr txBox="1"/>
          <p:nvPr/>
        </p:nvSpPr>
        <p:spPr>
          <a:xfrm>
            <a:off x="7543800" y="4434840"/>
            <a:ext cx="3886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Visit B: D = 3 + 5 = 8 (better than 10).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Visit D: E = 8 + 2 = 10 (better than 12), F = 8 + 6 = 14.</a:t>
            </a:r>
            <a:endParaRPr lang="en-US" sz="1600" dirty="0"/>
          </a:p>
        </p:txBody>
      </p:sp>
      <p:sp>
        <p:nvSpPr>
          <p:cNvPr id="58" name="Text 54"/>
          <p:cNvSpPr txBox="1"/>
          <p:nvPr/>
        </p:nvSpPr>
        <p:spPr>
          <a:xfrm>
            <a:off x="548640" y="60533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Green = visited (final). Teal outline = reached, not yet visited.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Visit E, then F: done</a:t>
            </a:r>
            <a:endParaRPr lang="en-US" sz="3600" dirty="0"/>
          </a:p>
        </p:txBody>
      </p:sp>
      <p:sp>
        <p:nvSpPr>
          <p:cNvPr id="4" name="Edge AB"/>
          <p:cNvSpPr/>
          <p:nvPr/>
        </p:nvSpPr>
        <p:spPr>
          <a:xfrm flipV="1">
            <a:off x="1239012" y="2504542"/>
            <a:ext cx="1282903" cy="1267358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</a:ln>
        </p:spPr>
      </p:sp>
      <p:sp>
        <p:nvSpPr>
          <p:cNvPr id="5" name="Edge AC"/>
          <p:cNvSpPr/>
          <p:nvPr/>
        </p:nvSpPr>
        <p:spPr>
          <a:xfrm>
            <a:off x="1239012" y="3771900"/>
            <a:ext cx="1282903" cy="1267358"/>
          </a:xfrm>
          <a:prstGeom prst="line">
            <a:avLst/>
          </a:prstGeom>
          <a:noFill/>
          <a:ln w="63500">
            <a:solidFill>
              <a:schemeClr val="accent4"/>
            </a:solidFill>
            <a:prstDash val="solid"/>
          </a:ln>
        </p:spPr>
      </p:sp>
      <p:sp>
        <p:nvSpPr>
          <p:cNvPr id="6" name="Edge BC"/>
          <p:cNvSpPr/>
          <p:nvPr/>
        </p:nvSpPr>
        <p:spPr>
          <a:xfrm>
            <a:off x="2521915" y="2504542"/>
            <a:ext cx="0" cy="2534717"/>
          </a:xfrm>
          <a:prstGeom prst="line">
            <a:avLst/>
          </a:prstGeom>
          <a:noFill/>
          <a:ln w="63500">
            <a:solidFill>
              <a:schemeClr val="accent4"/>
            </a:solidFill>
            <a:prstDash val="solid"/>
          </a:ln>
        </p:spPr>
      </p:sp>
      <p:sp>
        <p:nvSpPr>
          <p:cNvPr id="7" name="Edge BD"/>
          <p:cNvSpPr/>
          <p:nvPr/>
        </p:nvSpPr>
        <p:spPr>
          <a:xfrm>
            <a:off x="2521915" y="2504542"/>
            <a:ext cx="1896466" cy="0"/>
          </a:xfrm>
          <a:prstGeom prst="line">
            <a:avLst/>
          </a:prstGeom>
          <a:noFill/>
          <a:ln w="63500">
            <a:solidFill>
              <a:schemeClr val="accent4"/>
            </a:solidFill>
            <a:prstDash val="solid"/>
          </a:ln>
        </p:spPr>
      </p:sp>
      <p:sp>
        <p:nvSpPr>
          <p:cNvPr id="8" name="Edge CD"/>
          <p:cNvSpPr/>
          <p:nvPr/>
        </p:nvSpPr>
        <p:spPr>
          <a:xfrm flipV="1">
            <a:off x="2521915" y="2504542"/>
            <a:ext cx="1896466" cy="2534717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</a:ln>
        </p:spPr>
      </p:sp>
      <p:sp>
        <p:nvSpPr>
          <p:cNvPr id="9" name="Edge CE"/>
          <p:cNvSpPr/>
          <p:nvPr/>
        </p:nvSpPr>
        <p:spPr>
          <a:xfrm>
            <a:off x="2521915" y="5039258"/>
            <a:ext cx="1896466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</a:ln>
        </p:spPr>
      </p:sp>
      <p:sp>
        <p:nvSpPr>
          <p:cNvPr id="10" name="Edge DE"/>
          <p:cNvSpPr/>
          <p:nvPr/>
        </p:nvSpPr>
        <p:spPr>
          <a:xfrm>
            <a:off x="4418381" y="2504542"/>
            <a:ext cx="0" cy="2534717"/>
          </a:xfrm>
          <a:prstGeom prst="line">
            <a:avLst/>
          </a:prstGeom>
          <a:noFill/>
          <a:ln w="63500">
            <a:solidFill>
              <a:schemeClr val="accent4"/>
            </a:solidFill>
            <a:prstDash val="solid"/>
          </a:ln>
        </p:spPr>
      </p:sp>
      <p:sp>
        <p:nvSpPr>
          <p:cNvPr id="11" name="Edge DF"/>
          <p:cNvSpPr/>
          <p:nvPr/>
        </p:nvSpPr>
        <p:spPr>
          <a:xfrm>
            <a:off x="4418381" y="2504542"/>
            <a:ext cx="1840687" cy="1267358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</a:ln>
        </p:spPr>
      </p:sp>
      <p:sp>
        <p:nvSpPr>
          <p:cNvPr id="12" name="Edge EF"/>
          <p:cNvSpPr/>
          <p:nvPr/>
        </p:nvSpPr>
        <p:spPr>
          <a:xfrm flipV="1">
            <a:off x="4418381" y="3771900"/>
            <a:ext cx="1840687" cy="1267358"/>
          </a:xfrm>
          <a:prstGeom prst="line">
            <a:avLst/>
          </a:prstGeom>
          <a:noFill/>
          <a:ln w="63500">
            <a:solidFill>
              <a:schemeClr val="accent4"/>
            </a:solidFill>
            <a:prstDash val="solid"/>
          </a:ln>
        </p:spPr>
      </p:sp>
      <p:sp>
        <p:nvSpPr>
          <p:cNvPr id="13" name="Weight AB"/>
          <p:cNvSpPr/>
          <p:nvPr/>
        </p:nvSpPr>
        <p:spPr>
          <a:xfrm>
            <a:off x="1688440" y="2982773"/>
            <a:ext cx="384048" cy="310896"/>
          </a:xfrm>
          <a:prstGeom prst="roundRect">
            <a:avLst>
              <a:gd name="adj" fmla="val 2352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688440" y="2982773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Weight AC"/>
          <p:cNvSpPr/>
          <p:nvPr/>
        </p:nvSpPr>
        <p:spPr>
          <a:xfrm>
            <a:off x="1688440" y="4250131"/>
            <a:ext cx="384048" cy="310896"/>
          </a:xfrm>
          <a:prstGeom prst="roundRect">
            <a:avLst>
              <a:gd name="adj" fmla="val 2352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688440" y="4250131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Weight BC"/>
          <p:cNvSpPr/>
          <p:nvPr/>
        </p:nvSpPr>
        <p:spPr>
          <a:xfrm>
            <a:off x="2329891" y="3616452"/>
            <a:ext cx="384048" cy="310896"/>
          </a:xfrm>
          <a:prstGeom prst="roundRect">
            <a:avLst>
              <a:gd name="adj" fmla="val 2352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329891" y="361645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19" name="Weight BD"/>
          <p:cNvSpPr/>
          <p:nvPr/>
        </p:nvSpPr>
        <p:spPr>
          <a:xfrm>
            <a:off x="3278124" y="2349094"/>
            <a:ext cx="384048" cy="310896"/>
          </a:xfrm>
          <a:prstGeom prst="roundRect">
            <a:avLst>
              <a:gd name="adj" fmla="val 2352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278124" y="2349094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5</a:t>
            </a:r>
            <a:endParaRPr lang="en-US" sz="1400" dirty="0"/>
          </a:p>
        </p:txBody>
      </p:sp>
      <p:sp>
        <p:nvSpPr>
          <p:cNvPr id="21" name="Weight CD"/>
          <p:cNvSpPr/>
          <p:nvPr/>
        </p:nvSpPr>
        <p:spPr>
          <a:xfrm>
            <a:off x="3278124" y="3616452"/>
            <a:ext cx="384048" cy="310896"/>
          </a:xfrm>
          <a:prstGeom prst="roundRect">
            <a:avLst>
              <a:gd name="adj" fmla="val 2352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278124" y="361645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8</a:t>
            </a:r>
            <a:endParaRPr lang="en-US" sz="1400" dirty="0"/>
          </a:p>
        </p:txBody>
      </p:sp>
      <p:sp>
        <p:nvSpPr>
          <p:cNvPr id="23" name="Weight CE"/>
          <p:cNvSpPr/>
          <p:nvPr/>
        </p:nvSpPr>
        <p:spPr>
          <a:xfrm>
            <a:off x="3278124" y="4883810"/>
            <a:ext cx="384048" cy="310896"/>
          </a:xfrm>
          <a:prstGeom prst="roundRect">
            <a:avLst>
              <a:gd name="adj" fmla="val 2352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278124" y="4883810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10</a:t>
            </a:r>
            <a:endParaRPr lang="en-US" sz="1400" dirty="0"/>
          </a:p>
        </p:txBody>
      </p:sp>
      <p:sp>
        <p:nvSpPr>
          <p:cNvPr id="25" name="Weight DE"/>
          <p:cNvSpPr/>
          <p:nvPr/>
        </p:nvSpPr>
        <p:spPr>
          <a:xfrm>
            <a:off x="4226357" y="3616452"/>
            <a:ext cx="384048" cy="310896"/>
          </a:xfrm>
          <a:prstGeom prst="roundRect">
            <a:avLst>
              <a:gd name="adj" fmla="val 2352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226357" y="361645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27" name="Weight DF"/>
          <p:cNvSpPr/>
          <p:nvPr/>
        </p:nvSpPr>
        <p:spPr>
          <a:xfrm>
            <a:off x="5146700" y="2982773"/>
            <a:ext cx="384048" cy="310896"/>
          </a:xfrm>
          <a:prstGeom prst="roundRect">
            <a:avLst>
              <a:gd name="adj" fmla="val 2352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146700" y="2982773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6</a:t>
            </a:r>
            <a:endParaRPr lang="en-US" sz="1400" dirty="0"/>
          </a:p>
        </p:txBody>
      </p:sp>
      <p:sp>
        <p:nvSpPr>
          <p:cNvPr id="29" name="Weight EF"/>
          <p:cNvSpPr/>
          <p:nvPr/>
        </p:nvSpPr>
        <p:spPr>
          <a:xfrm>
            <a:off x="5146700" y="4250131"/>
            <a:ext cx="384048" cy="310896"/>
          </a:xfrm>
          <a:prstGeom prst="roundRect">
            <a:avLst>
              <a:gd name="adj" fmla="val 2352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146700" y="4250131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31" name="Node A"/>
          <p:cNvSpPr/>
          <p:nvPr/>
        </p:nvSpPr>
        <p:spPr>
          <a:xfrm>
            <a:off x="918972" y="3451860"/>
            <a:ext cx="640080" cy="64008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4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18972" y="34518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A</a:t>
            </a:r>
            <a:endParaRPr lang="en-US" sz="2200" dirty="0"/>
          </a:p>
        </p:txBody>
      </p:sp>
      <p:sp>
        <p:nvSpPr>
          <p:cNvPr id="33" name="Dist badge"/>
          <p:cNvSpPr/>
          <p:nvPr/>
        </p:nvSpPr>
        <p:spPr>
          <a:xfrm>
            <a:off x="937260" y="3086100"/>
            <a:ext cx="603504" cy="292608"/>
          </a:xfrm>
          <a:prstGeom prst="roundRect">
            <a:avLst>
              <a:gd name="adj" fmla="val 37500"/>
            </a:avLst>
          </a:prstGeom>
          <a:solidFill>
            <a:schemeClr val="tx1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937260" y="3086100"/>
            <a:ext cx="603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0</a:t>
            </a:r>
            <a:endParaRPr lang="en-US" sz="1400" dirty="0"/>
          </a:p>
        </p:txBody>
      </p:sp>
      <p:sp>
        <p:nvSpPr>
          <p:cNvPr id="35" name="Node B"/>
          <p:cNvSpPr/>
          <p:nvPr/>
        </p:nvSpPr>
        <p:spPr>
          <a:xfrm>
            <a:off x="2201875" y="2184502"/>
            <a:ext cx="640080" cy="64008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4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2201875" y="218450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B</a:t>
            </a:r>
            <a:endParaRPr lang="en-US" sz="2200" dirty="0"/>
          </a:p>
        </p:txBody>
      </p:sp>
      <p:sp>
        <p:nvSpPr>
          <p:cNvPr id="37" name="Dist badge"/>
          <p:cNvSpPr/>
          <p:nvPr/>
        </p:nvSpPr>
        <p:spPr>
          <a:xfrm>
            <a:off x="2220163" y="1818742"/>
            <a:ext cx="603504" cy="292608"/>
          </a:xfrm>
          <a:prstGeom prst="roundRect">
            <a:avLst>
              <a:gd name="adj" fmla="val 37500"/>
            </a:avLst>
          </a:prstGeom>
          <a:solidFill>
            <a:schemeClr val="tx1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2220163" y="1818742"/>
            <a:ext cx="603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39" name="Node C"/>
          <p:cNvSpPr/>
          <p:nvPr/>
        </p:nvSpPr>
        <p:spPr>
          <a:xfrm>
            <a:off x="2201875" y="4719218"/>
            <a:ext cx="640080" cy="64008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4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2201875" y="471921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C</a:t>
            </a:r>
            <a:endParaRPr lang="en-US" sz="2200" dirty="0"/>
          </a:p>
        </p:txBody>
      </p:sp>
      <p:sp>
        <p:nvSpPr>
          <p:cNvPr id="41" name="Dist badge"/>
          <p:cNvSpPr/>
          <p:nvPr/>
        </p:nvSpPr>
        <p:spPr>
          <a:xfrm>
            <a:off x="2220163" y="5432450"/>
            <a:ext cx="603504" cy="292608"/>
          </a:xfrm>
          <a:prstGeom prst="roundRect">
            <a:avLst>
              <a:gd name="adj" fmla="val 37500"/>
            </a:avLst>
          </a:prstGeom>
          <a:solidFill>
            <a:schemeClr val="tx1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2220163" y="5432450"/>
            <a:ext cx="603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43" name="Node D"/>
          <p:cNvSpPr/>
          <p:nvPr/>
        </p:nvSpPr>
        <p:spPr>
          <a:xfrm>
            <a:off x="4098341" y="2184502"/>
            <a:ext cx="640080" cy="64008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4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4098341" y="218450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D</a:t>
            </a:r>
            <a:endParaRPr lang="en-US" sz="2200" dirty="0"/>
          </a:p>
        </p:txBody>
      </p:sp>
      <p:sp>
        <p:nvSpPr>
          <p:cNvPr id="45" name="Dist badge"/>
          <p:cNvSpPr/>
          <p:nvPr/>
        </p:nvSpPr>
        <p:spPr>
          <a:xfrm>
            <a:off x="4116629" y="1818742"/>
            <a:ext cx="603504" cy="292608"/>
          </a:xfrm>
          <a:prstGeom prst="roundRect">
            <a:avLst>
              <a:gd name="adj" fmla="val 37500"/>
            </a:avLst>
          </a:prstGeom>
          <a:solidFill>
            <a:schemeClr val="tx1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4116629" y="1818742"/>
            <a:ext cx="603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8</a:t>
            </a:r>
            <a:endParaRPr lang="en-US" sz="1400" dirty="0"/>
          </a:p>
        </p:txBody>
      </p:sp>
      <p:sp>
        <p:nvSpPr>
          <p:cNvPr id="47" name="Node E"/>
          <p:cNvSpPr/>
          <p:nvPr/>
        </p:nvSpPr>
        <p:spPr>
          <a:xfrm>
            <a:off x="4098341" y="4719218"/>
            <a:ext cx="640080" cy="64008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4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4098341" y="471921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E</a:t>
            </a:r>
            <a:endParaRPr lang="en-US" sz="2200" dirty="0"/>
          </a:p>
        </p:txBody>
      </p:sp>
      <p:sp>
        <p:nvSpPr>
          <p:cNvPr id="49" name="Dist badge"/>
          <p:cNvSpPr/>
          <p:nvPr/>
        </p:nvSpPr>
        <p:spPr>
          <a:xfrm>
            <a:off x="4116629" y="5432450"/>
            <a:ext cx="603504" cy="292608"/>
          </a:xfrm>
          <a:prstGeom prst="roundRect">
            <a:avLst>
              <a:gd name="adj" fmla="val 37500"/>
            </a:avLst>
          </a:prstGeom>
          <a:solidFill>
            <a:schemeClr val="tx1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4116629" y="5432450"/>
            <a:ext cx="603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10</a:t>
            </a:r>
            <a:endParaRPr lang="en-US" sz="1400" dirty="0"/>
          </a:p>
        </p:txBody>
      </p:sp>
      <p:sp>
        <p:nvSpPr>
          <p:cNvPr id="51" name="Node F"/>
          <p:cNvSpPr/>
          <p:nvPr/>
        </p:nvSpPr>
        <p:spPr>
          <a:xfrm>
            <a:off x="5939028" y="3451860"/>
            <a:ext cx="640080" cy="64008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4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5939028" y="34518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F</a:t>
            </a:r>
            <a:endParaRPr lang="en-US" sz="2200" dirty="0"/>
          </a:p>
        </p:txBody>
      </p:sp>
      <p:sp>
        <p:nvSpPr>
          <p:cNvPr id="53" name="Dist badge"/>
          <p:cNvSpPr/>
          <p:nvPr/>
        </p:nvSpPr>
        <p:spPr>
          <a:xfrm>
            <a:off x="5957316" y="3086100"/>
            <a:ext cx="603504" cy="292608"/>
          </a:xfrm>
          <a:prstGeom prst="roundRect">
            <a:avLst>
              <a:gd name="adj" fmla="val 37500"/>
            </a:avLst>
          </a:prstGeom>
          <a:solidFill>
            <a:schemeClr val="tx1"/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5957316" y="3086100"/>
            <a:ext cx="603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13</a:t>
            </a:r>
            <a:endParaRPr lang="en-US" sz="1400" dirty="0"/>
          </a:p>
        </p:txBody>
      </p:sp>
      <p:graphicFrame>
        <p:nvGraphicFramePr>
          <p:cNvPr id="12" name="Distanc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1554480"/>
          <a:ext cx="432511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508760"/>
                <a:gridCol w="1536192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Node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dist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prev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F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F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FE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F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F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FE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F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F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FE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F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F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FE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F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F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FE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F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F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FE0"/>
                    </a:solidFill>
                  </a:tcPr>
                </a:tc>
              </a:tr>
            </a:tbl>
          </a:graphicData>
        </a:graphic>
      </p:graphicFrame>
      <p:sp>
        <p:nvSpPr>
          <p:cNvPr id="56" name="Walkthrough note"/>
          <p:cNvSpPr/>
          <p:nvPr/>
        </p:nvSpPr>
        <p:spPr>
          <a:xfrm>
            <a:off x="7315200" y="4297680"/>
            <a:ext cx="4325112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57" name="Text 53"/>
          <p:cNvSpPr txBox="1"/>
          <p:nvPr/>
        </p:nvSpPr>
        <p:spPr>
          <a:xfrm>
            <a:off x="7543800" y="4434840"/>
            <a:ext cx="3886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Visit E: F = 10 + 3 = 13 (better than 14).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Visit F: nothing left. All distances are final.</a:t>
            </a:r>
            <a:endParaRPr lang="en-US" sz="1600" dirty="0"/>
          </a:p>
        </p:txBody>
      </p:sp>
      <p:sp>
        <p:nvSpPr>
          <p:cNvPr id="58" name="Text 54"/>
          <p:cNvSpPr txBox="1"/>
          <p:nvPr/>
        </p:nvSpPr>
        <p:spPr>
          <a:xfrm>
            <a:off x="548640" y="60533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Green = visited (final). Teal outline = reached, not yet visited.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Recovering the shortest path</a:t>
            </a:r>
            <a:endParaRPr lang="en-US" sz="3600" dirty="0"/>
          </a:p>
        </p:txBody>
      </p:sp>
      <p:sp>
        <p:nvSpPr>
          <p:cNvPr id="4" name="Path node A"/>
          <p:cNvSpPr/>
          <p:nvPr/>
        </p:nvSpPr>
        <p:spPr>
          <a:xfrm>
            <a:off x="548640" y="182880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48640" y="18288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</a:t>
            </a:r>
            <a:endParaRPr lang="en-US" sz="2800" dirty="0"/>
          </a:p>
        </p:txBody>
      </p:sp>
      <p:sp>
        <p:nvSpPr>
          <p:cNvPr id="6" name="Path arrow"/>
          <p:cNvSpPr/>
          <p:nvPr/>
        </p:nvSpPr>
        <p:spPr>
          <a:xfrm>
            <a:off x="1554480" y="2084832"/>
            <a:ext cx="777240" cy="36576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554480" y="15544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Path node C"/>
          <p:cNvSpPr/>
          <p:nvPr/>
        </p:nvSpPr>
        <p:spPr>
          <a:xfrm>
            <a:off x="2602382" y="182880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602382" y="18288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</a:t>
            </a:r>
            <a:endParaRPr lang="en-US" sz="2800" dirty="0"/>
          </a:p>
        </p:txBody>
      </p:sp>
      <p:sp>
        <p:nvSpPr>
          <p:cNvPr id="10" name="Path arrow"/>
          <p:cNvSpPr/>
          <p:nvPr/>
        </p:nvSpPr>
        <p:spPr>
          <a:xfrm>
            <a:off x="3608222" y="2084832"/>
            <a:ext cx="777240" cy="36576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608222" y="15544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1</a:t>
            </a:r>
            <a:endParaRPr lang="en-US" sz="1600" dirty="0"/>
          </a:p>
        </p:txBody>
      </p:sp>
      <p:sp>
        <p:nvSpPr>
          <p:cNvPr id="12" name="Path node B"/>
          <p:cNvSpPr/>
          <p:nvPr/>
        </p:nvSpPr>
        <p:spPr>
          <a:xfrm>
            <a:off x="4656125" y="182880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656125" y="18288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B</a:t>
            </a:r>
            <a:endParaRPr lang="en-US" sz="2800" dirty="0"/>
          </a:p>
        </p:txBody>
      </p:sp>
      <p:sp>
        <p:nvSpPr>
          <p:cNvPr id="14" name="Path arrow"/>
          <p:cNvSpPr/>
          <p:nvPr/>
        </p:nvSpPr>
        <p:spPr>
          <a:xfrm>
            <a:off x="5661965" y="2084832"/>
            <a:ext cx="777240" cy="36576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661965" y="15544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5</a:t>
            </a:r>
            <a:endParaRPr lang="en-US" sz="1600" dirty="0"/>
          </a:p>
        </p:txBody>
      </p:sp>
      <p:sp>
        <p:nvSpPr>
          <p:cNvPr id="16" name="Path node D"/>
          <p:cNvSpPr/>
          <p:nvPr/>
        </p:nvSpPr>
        <p:spPr>
          <a:xfrm>
            <a:off x="6709867" y="182880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709867" y="18288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D</a:t>
            </a:r>
            <a:endParaRPr lang="en-US" sz="2800" dirty="0"/>
          </a:p>
        </p:txBody>
      </p:sp>
      <p:sp>
        <p:nvSpPr>
          <p:cNvPr id="18" name="Path arrow"/>
          <p:cNvSpPr/>
          <p:nvPr/>
        </p:nvSpPr>
        <p:spPr>
          <a:xfrm>
            <a:off x="7715707" y="2084832"/>
            <a:ext cx="777240" cy="36576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715707" y="15544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2</a:t>
            </a:r>
            <a:endParaRPr lang="en-US" sz="1600" dirty="0"/>
          </a:p>
        </p:txBody>
      </p:sp>
      <p:sp>
        <p:nvSpPr>
          <p:cNvPr id="20" name="Path node E"/>
          <p:cNvSpPr/>
          <p:nvPr/>
        </p:nvSpPr>
        <p:spPr>
          <a:xfrm>
            <a:off x="8763610" y="182880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763610" y="18288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E</a:t>
            </a:r>
            <a:endParaRPr lang="en-US" sz="2800" dirty="0"/>
          </a:p>
        </p:txBody>
      </p:sp>
      <p:sp>
        <p:nvSpPr>
          <p:cNvPr id="22" name="Path arrow"/>
          <p:cNvSpPr/>
          <p:nvPr/>
        </p:nvSpPr>
        <p:spPr>
          <a:xfrm>
            <a:off x="9769450" y="2084832"/>
            <a:ext cx="777240" cy="36576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9769450" y="15544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3</a:t>
            </a:r>
            <a:endParaRPr lang="en-US" sz="1600" dirty="0"/>
          </a:p>
        </p:txBody>
      </p:sp>
      <p:sp>
        <p:nvSpPr>
          <p:cNvPr id="24" name="Path node F"/>
          <p:cNvSpPr/>
          <p:nvPr/>
        </p:nvSpPr>
        <p:spPr>
          <a:xfrm>
            <a:off x="10817352" y="182880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10817352" y="18288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F</a:t>
            </a:r>
            <a:endParaRPr lang="en-US" sz="2800" dirty="0"/>
          </a:p>
        </p:txBody>
      </p:sp>
      <p:sp>
        <p:nvSpPr>
          <p:cNvPr id="26" name="Backtrack card"/>
          <p:cNvSpPr/>
          <p:nvPr/>
        </p:nvSpPr>
        <p:spPr>
          <a:xfrm>
            <a:off x="548640" y="3200400"/>
            <a:ext cx="6766560" cy="283464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822960" y="33832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Follow prev pointers backwards</a:t>
            </a:r>
            <a:endParaRPr lang="en-US" sz="2000" dirty="0"/>
          </a:p>
        </p:txBody>
      </p:sp>
      <p:sp>
        <p:nvSpPr>
          <p:cNvPr id="28" name="Text 25"/>
          <p:cNvSpPr txBox="1"/>
          <p:nvPr/>
        </p:nvSpPr>
        <p:spPr>
          <a:xfrm>
            <a:off x="822960" y="3886200"/>
            <a:ext cx="6217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prev[F] = E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prev[E] = D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prev[D] = B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prev[B] = C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prev[C] = A</a:t>
            </a:r>
            <a:endParaRPr lang="en-US" sz="1800" dirty="0"/>
          </a:p>
        </p:txBody>
      </p:sp>
      <p:sp>
        <p:nvSpPr>
          <p:cNvPr id="29" name="Total card"/>
          <p:cNvSpPr/>
          <p:nvPr/>
        </p:nvSpPr>
        <p:spPr>
          <a:xfrm>
            <a:off x="7680960" y="3200400"/>
            <a:ext cx="3959352" cy="2834640"/>
          </a:xfrm>
          <a:prstGeom prst="roundRect">
            <a:avLst>
              <a:gd name="adj" fmla="val 3871"/>
            </a:avLst>
          </a:prstGeom>
          <a:solidFill>
            <a:schemeClr val="tx1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7680960" y="3520440"/>
            <a:ext cx="3959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2 + 1 + 5 + 2 + 3</a:t>
            </a:r>
            <a:endParaRPr lang="en-US" sz="2200" dirty="0"/>
          </a:p>
        </p:txBody>
      </p:sp>
      <p:sp>
        <p:nvSpPr>
          <p:cNvPr id="31" name="Text 28"/>
          <p:cNvSpPr txBox="1"/>
          <p:nvPr/>
        </p:nvSpPr>
        <p:spPr>
          <a:xfrm>
            <a:off x="7680960" y="4023360"/>
            <a:ext cx="39593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chemeClr val="accent1"/>
                </a:solidFill>
              </a:rPr>
              <a:t>= 13</a:t>
            </a:r>
            <a:endParaRPr lang="en-US" sz="6600" dirty="0"/>
          </a:p>
        </p:txBody>
      </p:sp>
      <p:sp>
        <p:nvSpPr>
          <p:cNvPr id="32" name="Text 29"/>
          <p:cNvSpPr txBox="1"/>
          <p:nvPr/>
        </p:nvSpPr>
        <p:spPr>
          <a:xfrm>
            <a:off x="7680960" y="5212080"/>
            <a:ext cx="3959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shortest distance A → F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Complexity</a:t>
            </a:r>
            <a:endParaRPr lang="en-US" sz="3600" dirty="0"/>
          </a:p>
        </p:txBody>
      </p:sp>
      <p:graphicFrame>
        <p:nvGraphicFramePr>
          <p:cNvPr id="14" name="Complexity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73152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377440"/>
                <a:gridCol w="2286000"/>
              </a:tblGrid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Priority queue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Time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Best for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Array scan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O(V²)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Dense graphs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Binary min-heap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O((V + E) log V)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Most real graphs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Fibonacci heap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O(E + V log V)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Theory, huge graphs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48463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5"/>
                </a:solidFill>
              </a:rPr>
              <a:t>Space is O(V) for the distance, prev and visited arrays, plus the queue.</a:t>
            </a:r>
            <a:endParaRPr lang="en-US" sz="1700" dirty="0"/>
          </a:p>
        </p:txBody>
      </p:sp>
      <p:sp>
        <p:nvSpPr>
          <p:cNvPr id="6" name="Heap stat"/>
          <p:cNvSpPr/>
          <p:nvPr/>
        </p:nvSpPr>
        <p:spPr>
          <a:xfrm>
            <a:off x="8229600" y="1645920"/>
            <a:ext cx="3410712" cy="3931920"/>
          </a:xfrm>
          <a:prstGeom prst="roundRect">
            <a:avLst>
              <a:gd name="adj" fmla="val 3217"/>
            </a:avLst>
          </a:prstGeom>
          <a:solidFill>
            <a:schemeClr val="tx1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8229600" y="1920240"/>
            <a:ext cx="3410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Our graph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8229600" y="2377440"/>
            <a:ext cx="3410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V = 6</a:t>
            </a:r>
            <a:endParaRPr lang="en-US" sz="4000" dirty="0"/>
          </a:p>
        </p:txBody>
      </p:sp>
      <p:sp>
        <p:nvSpPr>
          <p:cNvPr id="9" name="Text 5"/>
          <p:cNvSpPr txBox="1"/>
          <p:nvPr/>
        </p:nvSpPr>
        <p:spPr>
          <a:xfrm>
            <a:off x="8229600" y="3200400"/>
            <a:ext cx="3410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E = 9</a:t>
            </a:r>
            <a:endParaRPr lang="en-US" sz="4000" dirty="0"/>
          </a:p>
        </p:txBody>
      </p:sp>
      <p:sp>
        <p:nvSpPr>
          <p:cNvPr id="10" name="Text 6"/>
          <p:cNvSpPr txBox="1"/>
          <p:nvPr/>
        </p:nvSpPr>
        <p:spPr>
          <a:xfrm>
            <a:off x="8503920" y="4206240"/>
            <a:ext cx="2862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6 nodes visited once each, 9 edges relaxed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Python implementation</a:t>
            </a:r>
            <a:endParaRPr lang="en-US" sz="3600" dirty="0"/>
          </a:p>
        </p:txBody>
      </p:sp>
      <p:sp>
        <p:nvSpPr>
          <p:cNvPr id="4" name="Code card"/>
          <p:cNvSpPr/>
          <p:nvPr/>
        </p:nvSpPr>
        <p:spPr>
          <a:xfrm>
            <a:off x="548640" y="1554480"/>
            <a:ext cx="7772400" cy="4663440"/>
          </a:xfrm>
          <a:prstGeom prst="roundRect">
            <a:avLst>
              <a:gd name="adj" fmla="val 2353"/>
            </a:avLst>
          </a:prstGeom>
          <a:solidFill>
            <a:schemeClr val="tx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68680" y="1828800"/>
            <a:ext cx="72237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heapq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dijkstra(graph, src):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dist = {v: float('inf') for v in graph}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prev, dist[src] = {}, 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heap = [(0, src)]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heap: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d, u = heapq.heappop(heap)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d &gt; dist[u]: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continue                # stale entry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v, w in graph[u]: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d + w &lt; dist[v]:     # relax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dist[v] = d + w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prev[v] = u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heapq.heappush(heap, (dist[v], v))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dist, prev</a:t>
            </a:r>
            <a:endParaRPr lang="en-US" sz="1500" dirty="0"/>
          </a:p>
        </p:txBody>
      </p:sp>
      <p:sp>
        <p:nvSpPr>
          <p:cNvPr id="6" name="Code note"/>
          <p:cNvSpPr/>
          <p:nvPr/>
        </p:nvSpPr>
        <p:spPr>
          <a:xfrm>
            <a:off x="8595360" y="1554480"/>
            <a:ext cx="3044952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823960" y="16916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Min-heap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823960" y="210312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heappop always returns the closest node.</a:t>
            </a:r>
            <a:endParaRPr lang="en-US" sz="1500" dirty="0"/>
          </a:p>
        </p:txBody>
      </p:sp>
      <p:sp>
        <p:nvSpPr>
          <p:cNvPr id="9" name="Code note"/>
          <p:cNvSpPr/>
          <p:nvPr/>
        </p:nvSpPr>
        <p:spPr>
          <a:xfrm>
            <a:off x="8595360" y="3154680"/>
            <a:ext cx="3044952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823960" y="32918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Stale entries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8823960" y="370332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Skip a popped pair if a better distance is known.</a:t>
            </a:r>
            <a:endParaRPr lang="en-US" sz="1500" dirty="0"/>
          </a:p>
        </p:txBody>
      </p:sp>
      <p:sp>
        <p:nvSpPr>
          <p:cNvPr id="12" name="Code note"/>
          <p:cNvSpPr/>
          <p:nvPr/>
        </p:nvSpPr>
        <p:spPr>
          <a:xfrm>
            <a:off x="8595360" y="4754880"/>
            <a:ext cx="3044952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823960" y="48920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Result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8823960" y="530352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dist = A 0, B 3, C 2, D 8, E 10, F 13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Limit: negative edges</a:t>
            </a:r>
            <a:endParaRPr lang="en-US" sz="3600" dirty="0"/>
          </a:p>
        </p:txBody>
      </p:sp>
      <p:sp>
        <p:nvSpPr>
          <p:cNvPr id="4" name="Directed edge"/>
          <p:cNvSpPr/>
          <p:nvPr/>
        </p:nvSpPr>
        <p:spPr>
          <a:xfrm flipV="1">
            <a:off x="1280160" y="2377440"/>
            <a:ext cx="4023360" cy="1463040"/>
          </a:xfrm>
          <a:prstGeom prst="line">
            <a:avLst/>
          </a:prstGeom>
          <a:noFill/>
          <a:ln w="508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5" name="Weight label"/>
          <p:cNvSpPr/>
          <p:nvPr/>
        </p:nvSpPr>
        <p:spPr>
          <a:xfrm>
            <a:off x="3017520" y="2926080"/>
            <a:ext cx="548640" cy="365760"/>
          </a:xfrm>
          <a:prstGeom prst="roundRect">
            <a:avLst>
              <a:gd name="adj" fmla="val 30000"/>
            </a:avLst>
          </a:prstGeom>
          <a:solidFill>
            <a:schemeClr val="bg1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017520" y="2926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7" name="Directed edge"/>
          <p:cNvSpPr/>
          <p:nvPr/>
        </p:nvSpPr>
        <p:spPr>
          <a:xfrm>
            <a:off x="1280160" y="3840480"/>
            <a:ext cx="4023360" cy="1463040"/>
          </a:xfrm>
          <a:prstGeom prst="line">
            <a:avLst/>
          </a:prstGeom>
          <a:noFill/>
          <a:ln w="508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8" name="Weight label"/>
          <p:cNvSpPr/>
          <p:nvPr/>
        </p:nvSpPr>
        <p:spPr>
          <a:xfrm>
            <a:off x="3017520" y="4389120"/>
            <a:ext cx="548640" cy="365760"/>
          </a:xfrm>
          <a:prstGeom prst="roundRect">
            <a:avLst>
              <a:gd name="adj" fmla="val 30000"/>
            </a:avLst>
          </a:prstGeom>
          <a:solidFill>
            <a:schemeClr val="bg1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017520" y="43891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5</a:t>
            </a:r>
            <a:endParaRPr lang="en-US" sz="1600" dirty="0"/>
          </a:p>
        </p:txBody>
      </p:sp>
      <p:sp>
        <p:nvSpPr>
          <p:cNvPr id="10" name="Directed edge"/>
          <p:cNvSpPr/>
          <p:nvPr/>
        </p:nvSpPr>
        <p:spPr>
          <a:xfrm flipV="1">
            <a:off x="5303520" y="2377440"/>
            <a:ext cx="0" cy="2926080"/>
          </a:xfrm>
          <a:prstGeom prst="line">
            <a:avLst/>
          </a:prstGeom>
          <a:noFill/>
          <a:ln w="508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1" name="Weight label"/>
          <p:cNvSpPr/>
          <p:nvPr/>
        </p:nvSpPr>
        <p:spPr>
          <a:xfrm>
            <a:off x="5029200" y="3657600"/>
            <a:ext cx="548640" cy="365760"/>
          </a:xfrm>
          <a:prstGeom prst="roundRect">
            <a:avLst>
              <a:gd name="adj" fmla="val 30000"/>
            </a:avLst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029200" y="36576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−4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5989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Directed edges: S → B (2), S → C (5), C → B (−4)</a:t>
            </a:r>
            <a:endParaRPr lang="en-US" sz="1300" dirty="0"/>
          </a:p>
        </p:txBody>
      </p:sp>
      <p:sp>
        <p:nvSpPr>
          <p:cNvPr id="14" name="Node S"/>
          <p:cNvSpPr/>
          <p:nvPr/>
        </p:nvSpPr>
        <p:spPr>
          <a:xfrm>
            <a:off x="914400" y="3474720"/>
            <a:ext cx="731520" cy="731520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accent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14400" y="3474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S</a:t>
            </a:r>
            <a:endParaRPr lang="en-US" sz="2400" dirty="0"/>
          </a:p>
        </p:txBody>
      </p:sp>
      <p:sp>
        <p:nvSpPr>
          <p:cNvPr id="16" name="Node B"/>
          <p:cNvSpPr/>
          <p:nvPr/>
        </p:nvSpPr>
        <p:spPr>
          <a:xfrm>
            <a:off x="4937760" y="2011680"/>
            <a:ext cx="731520" cy="731520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accent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93776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B</a:t>
            </a:r>
            <a:endParaRPr lang="en-US" sz="2400" dirty="0"/>
          </a:p>
        </p:txBody>
      </p:sp>
      <p:sp>
        <p:nvSpPr>
          <p:cNvPr id="18" name="Node C"/>
          <p:cNvSpPr/>
          <p:nvPr/>
        </p:nvSpPr>
        <p:spPr>
          <a:xfrm>
            <a:off x="4937760" y="4937760"/>
            <a:ext cx="731520" cy="731520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accent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937760" y="4937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C</a:t>
            </a:r>
            <a:endParaRPr lang="en-US" sz="2400" dirty="0"/>
          </a:p>
        </p:txBody>
      </p:sp>
      <p:sp>
        <p:nvSpPr>
          <p:cNvPr id="20" name="Limit card"/>
          <p:cNvSpPr/>
          <p:nvPr/>
        </p:nvSpPr>
        <p:spPr>
          <a:xfrm>
            <a:off x="7223760" y="1554480"/>
            <a:ext cx="4416552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498080" y="16642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Dijkstra says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7498080" y="193852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dist(B) = 2</a:t>
            </a:r>
            <a:endParaRPr lang="en-US" sz="2600" dirty="0"/>
          </a:p>
        </p:txBody>
      </p:sp>
      <p:sp>
        <p:nvSpPr>
          <p:cNvPr id="23" name="Text 20"/>
          <p:cNvSpPr txBox="1"/>
          <p:nvPr/>
        </p:nvSpPr>
        <p:spPr>
          <a:xfrm>
            <a:off x="7498080" y="24231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B is visited and finalised before C is reached.</a:t>
            </a:r>
            <a:endParaRPr lang="en-US" sz="1400" dirty="0"/>
          </a:p>
        </p:txBody>
      </p:sp>
      <p:sp>
        <p:nvSpPr>
          <p:cNvPr id="24" name="Limit card"/>
          <p:cNvSpPr/>
          <p:nvPr/>
        </p:nvSpPr>
        <p:spPr>
          <a:xfrm>
            <a:off x="7223760" y="3108960"/>
            <a:ext cx="4416552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7498080" y="32186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The truth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7498080" y="349300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dist(B) = 1</a:t>
            </a:r>
            <a:endParaRPr lang="en-US" sz="2600" dirty="0"/>
          </a:p>
        </p:txBody>
      </p:sp>
      <p:sp>
        <p:nvSpPr>
          <p:cNvPr id="27" name="Text 24"/>
          <p:cNvSpPr txBox="1"/>
          <p:nvPr/>
        </p:nvSpPr>
        <p:spPr>
          <a:xfrm>
            <a:off x="7498080" y="39776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 → C → B costs 5 + (−4) = 1.</a:t>
            </a:r>
            <a:endParaRPr lang="en-US" sz="1400" dirty="0"/>
          </a:p>
        </p:txBody>
      </p:sp>
      <p:sp>
        <p:nvSpPr>
          <p:cNvPr id="28" name="Limit card"/>
          <p:cNvSpPr/>
          <p:nvPr/>
        </p:nvSpPr>
        <p:spPr>
          <a:xfrm>
            <a:off x="7223760" y="4663440"/>
            <a:ext cx="4416552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7498080" y="47731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The fix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7498080" y="504748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Bellman-Ford</a:t>
            </a:r>
            <a:endParaRPr lang="en-US" sz="2600" dirty="0"/>
          </a:p>
        </p:txBody>
      </p:sp>
      <p:sp>
        <p:nvSpPr>
          <p:cNvPr id="31" name="Text 28"/>
          <p:cNvSpPr txBox="1"/>
          <p:nvPr/>
        </p:nvSpPr>
        <p:spPr>
          <a:xfrm>
            <a:off x="7498080" y="55321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Handles negative edges in O(V · E) time.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Where Dijkstra is used</a:t>
            </a:r>
            <a:endParaRPr lang="en-US" sz="3600" dirty="0"/>
          </a:p>
        </p:txBody>
      </p:sp>
      <p:sp>
        <p:nvSpPr>
          <p:cNvPr id="4" name="Use case card"/>
          <p:cNvSpPr/>
          <p:nvPr/>
        </p:nvSpPr>
        <p:spPr>
          <a:xfrm>
            <a:off x="548640" y="1600200"/>
            <a:ext cx="53949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5" name="Icon circle"/>
          <p:cNvSpPr/>
          <p:nvPr/>
        </p:nvSpPr>
        <p:spPr>
          <a:xfrm>
            <a:off x="914400" y="224028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2446020"/>
            <a:ext cx="411480" cy="4114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011680" y="1874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Maps &amp; navigation</a:t>
            </a:r>
            <a:endParaRPr lang="en-US" sz="2100" dirty="0"/>
          </a:p>
        </p:txBody>
      </p:sp>
      <p:sp>
        <p:nvSpPr>
          <p:cNvPr id="8" name="Text 4"/>
          <p:cNvSpPr txBox="1"/>
          <p:nvPr/>
        </p:nvSpPr>
        <p:spPr>
          <a:xfrm>
            <a:off x="2011680" y="242316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Fastest driving, walking or cycling routes with road lengths or travel times as weights.</a:t>
            </a:r>
            <a:endParaRPr lang="en-US" sz="1600" dirty="0"/>
          </a:p>
        </p:txBody>
      </p:sp>
      <p:sp>
        <p:nvSpPr>
          <p:cNvPr id="9" name="Use case card"/>
          <p:cNvSpPr/>
          <p:nvPr/>
        </p:nvSpPr>
        <p:spPr>
          <a:xfrm>
            <a:off x="6245352" y="1600200"/>
            <a:ext cx="53949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6611112" y="224028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6852" y="2446020"/>
            <a:ext cx="411480" cy="4114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708392" y="1874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Network routing</a:t>
            </a:r>
            <a:endParaRPr lang="en-US" sz="2100" dirty="0"/>
          </a:p>
        </p:txBody>
      </p:sp>
      <p:sp>
        <p:nvSpPr>
          <p:cNvPr id="13" name="Text 8"/>
          <p:cNvSpPr txBox="1"/>
          <p:nvPr/>
        </p:nvSpPr>
        <p:spPr>
          <a:xfrm>
            <a:off x="7708392" y="242316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Link-state protocols such as OSPF compute shortest paths over a network of routers.</a:t>
            </a:r>
            <a:endParaRPr lang="en-US" sz="1600" dirty="0"/>
          </a:p>
        </p:txBody>
      </p:sp>
      <p:sp>
        <p:nvSpPr>
          <p:cNvPr id="14" name="Use case card"/>
          <p:cNvSpPr/>
          <p:nvPr/>
        </p:nvSpPr>
        <p:spPr>
          <a:xfrm>
            <a:off x="548640" y="3977640"/>
            <a:ext cx="53949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5" name="Icon circle"/>
          <p:cNvSpPr/>
          <p:nvPr/>
        </p:nvSpPr>
        <p:spPr>
          <a:xfrm>
            <a:off x="914400" y="4617720"/>
            <a:ext cx="822960" cy="82296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6" name="Image 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" y="4823460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2011680" y="4251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Games &amp; robots</a:t>
            </a:r>
            <a:endParaRPr lang="en-US" sz="2100" dirty="0"/>
          </a:p>
        </p:txBody>
      </p:sp>
      <p:sp>
        <p:nvSpPr>
          <p:cNvPr id="18" name="Text 12"/>
          <p:cNvSpPr txBox="1"/>
          <p:nvPr/>
        </p:nvSpPr>
        <p:spPr>
          <a:xfrm>
            <a:off x="2011680" y="48006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Find cheap routes across terrain; A* extends Dijkstra with a goal-directed heuristic.</a:t>
            </a:r>
            <a:endParaRPr lang="en-US" sz="1600" dirty="0"/>
          </a:p>
        </p:txBody>
      </p:sp>
      <p:sp>
        <p:nvSpPr>
          <p:cNvPr id="19" name="Use case card"/>
          <p:cNvSpPr/>
          <p:nvPr/>
        </p:nvSpPr>
        <p:spPr>
          <a:xfrm>
            <a:off x="6245352" y="3977640"/>
            <a:ext cx="53949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20" name="Icon circle"/>
          <p:cNvSpPr/>
          <p:nvPr/>
        </p:nvSpPr>
        <p:spPr>
          <a:xfrm>
            <a:off x="6611112" y="4617720"/>
            <a:ext cx="822960" cy="82296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21" name="Image 3" descr="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6852" y="4823460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708392" y="4251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Travel &amp; logistics</a:t>
            </a:r>
            <a:endParaRPr lang="en-US" sz="2100" dirty="0"/>
          </a:p>
        </p:txBody>
      </p:sp>
      <p:sp>
        <p:nvSpPr>
          <p:cNvPr id="23" name="Text 16"/>
          <p:cNvSpPr txBox="1"/>
          <p:nvPr/>
        </p:nvSpPr>
        <p:spPr>
          <a:xfrm>
            <a:off x="7708392" y="48006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Cheapest or quickest itineraries and delivery routes through connected hubs.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Key takeaways</a:t>
            </a:r>
            <a:endParaRPr lang="en-US" sz="3600" dirty="0"/>
          </a:p>
        </p:txBody>
      </p:sp>
      <p:sp>
        <p:nvSpPr>
          <p:cNvPr id="4" name="Takeaway row"/>
          <p:cNvSpPr/>
          <p:nvPr/>
        </p:nvSpPr>
        <p:spPr>
          <a:xfrm>
            <a:off x="548640" y="1554480"/>
            <a:ext cx="7680960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/>
        </p:spPr>
      </p:sp>
      <p:sp>
        <p:nvSpPr>
          <p:cNvPr id="5" name="Badge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1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1737360" y="1664208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Visit the closest node first.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737360" y="2084832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Its distance is final once visited.</a:t>
            </a:r>
            <a:endParaRPr lang="en-US" sz="1600" dirty="0"/>
          </a:p>
        </p:txBody>
      </p:sp>
      <p:sp>
        <p:nvSpPr>
          <p:cNvPr id="9" name="Takeaway row"/>
          <p:cNvSpPr/>
          <p:nvPr/>
        </p:nvSpPr>
        <p:spPr>
          <a:xfrm>
            <a:off x="548640" y="2743200"/>
            <a:ext cx="7680960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/>
        </p:spPr>
      </p:sp>
      <p:sp>
        <p:nvSpPr>
          <p:cNvPr id="10" name="Badge"/>
          <p:cNvSpPr/>
          <p:nvPr/>
        </p:nvSpPr>
        <p:spPr>
          <a:xfrm>
            <a:off x="822960" y="29260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22960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2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1737360" y="2852928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Relaxation improves distances.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1737360" y="3273552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dist[u] + w &lt; dist[v] updates a neighbour.</a:t>
            </a:r>
            <a:endParaRPr lang="en-US" sz="1600" dirty="0"/>
          </a:p>
        </p:txBody>
      </p:sp>
      <p:sp>
        <p:nvSpPr>
          <p:cNvPr id="14" name="Takeaway row"/>
          <p:cNvSpPr/>
          <p:nvPr/>
        </p:nvSpPr>
        <p:spPr>
          <a:xfrm>
            <a:off x="548640" y="3931920"/>
            <a:ext cx="7680960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/>
        </p:spPr>
      </p:sp>
      <p:sp>
        <p:nvSpPr>
          <p:cNvPr id="15" name="Badge"/>
          <p:cNvSpPr/>
          <p:nvPr/>
        </p:nvSpPr>
        <p:spPr>
          <a:xfrm>
            <a:off x="822960" y="41148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22960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3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1737360" y="4041648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prev pointers give the path.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1737360" y="4462272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Trace back from the target to the source.</a:t>
            </a:r>
            <a:endParaRPr lang="en-US" sz="1600" dirty="0"/>
          </a:p>
        </p:txBody>
      </p:sp>
      <p:sp>
        <p:nvSpPr>
          <p:cNvPr id="19" name="Takeaway row"/>
          <p:cNvSpPr/>
          <p:nvPr/>
        </p:nvSpPr>
        <p:spPr>
          <a:xfrm>
            <a:off x="548640" y="5120640"/>
            <a:ext cx="7680960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/>
        </p:spPr>
      </p:sp>
      <p:sp>
        <p:nvSpPr>
          <p:cNvPr id="20" name="Badge"/>
          <p:cNvSpPr/>
          <p:nvPr/>
        </p:nvSpPr>
        <p:spPr>
          <a:xfrm>
            <a:off x="822960" y="53035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22960" y="5303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4</a:t>
            </a:r>
            <a:endParaRPr lang="en-US" sz="2400" dirty="0"/>
          </a:p>
        </p:txBody>
      </p:sp>
      <p:sp>
        <p:nvSpPr>
          <p:cNvPr id="22" name="Text 19"/>
          <p:cNvSpPr txBox="1"/>
          <p:nvPr/>
        </p:nvSpPr>
        <p:spPr>
          <a:xfrm>
            <a:off x="1737360" y="5230368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Needs non-negative weights.</a:t>
            </a:r>
            <a:endParaRPr lang="en-US" sz="2200" dirty="0"/>
          </a:p>
        </p:txBody>
      </p:sp>
      <p:sp>
        <p:nvSpPr>
          <p:cNvPr id="23" name="Text 20"/>
          <p:cNvSpPr txBox="1"/>
          <p:nvPr/>
        </p:nvSpPr>
        <p:spPr>
          <a:xfrm>
            <a:off x="1737360" y="5650992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O((V + E) log V) with a min-heap.</a:t>
            </a:r>
            <a:endParaRPr lang="en-US" sz="1600" dirty="0"/>
          </a:p>
        </p:txBody>
      </p:sp>
      <p:sp>
        <p:nvSpPr>
          <p:cNvPr id="24" name="Result card"/>
          <p:cNvSpPr/>
          <p:nvPr/>
        </p:nvSpPr>
        <p:spPr>
          <a:xfrm>
            <a:off x="8595360" y="1554480"/>
            <a:ext cx="3044952" cy="4480560"/>
          </a:xfrm>
          <a:prstGeom prst="roundRect">
            <a:avLst>
              <a:gd name="adj" fmla="val 3604"/>
            </a:avLst>
          </a:prstGeom>
          <a:solidFill>
            <a:schemeClr val="tx2"/>
          </a:solidFill>
          <a:ln/>
        </p:spPr>
      </p:sp>
      <p:pic>
        <p:nvPicPr>
          <p:cNvPr id="25" name="Image 0" descr="Rout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2011680"/>
            <a:ext cx="1005840" cy="1005840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8595360" y="3200400"/>
            <a:ext cx="3044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13</a:t>
            </a:r>
            <a:endParaRPr lang="en-US" sz="6000" dirty="0"/>
          </a:p>
        </p:txBody>
      </p:sp>
      <p:sp>
        <p:nvSpPr>
          <p:cNvPr id="27" name="Text 23"/>
          <p:cNvSpPr txBox="1"/>
          <p:nvPr/>
        </p:nvSpPr>
        <p:spPr>
          <a:xfrm>
            <a:off x="8595360" y="42976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Shortest A → F distance</a:t>
            </a:r>
            <a:endParaRPr lang="en-US" sz="1700" dirty="0"/>
          </a:p>
        </p:txBody>
      </p:sp>
      <p:sp>
        <p:nvSpPr>
          <p:cNvPr id="28" name="Text 24"/>
          <p:cNvSpPr txBox="1"/>
          <p:nvPr/>
        </p:nvSpPr>
        <p:spPr>
          <a:xfrm>
            <a:off x="8595360" y="475488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A → C → B → D → E → F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oute Amber">
  <a:themeElements>
    <a:clrScheme name="Route Amber">
      <a:dk1>
        <a:srgbClr val="10243A"/>
      </a:dk1>
      <a:lt1>
        <a:srgbClr val="FFFFFF"/>
      </a:lt1>
      <a:dk2>
        <a:srgbClr val="1C3550"/>
      </a:dk2>
      <a:lt2>
        <a:srgbClr val="F1F4F9"/>
      </a:lt2>
      <a:accent1>
        <a:srgbClr val="FF9F1C"/>
      </a:accent1>
      <a:accent2>
        <a:srgbClr val="0F7F86"/>
      </a:accent2>
      <a:accent3>
        <a:srgbClr val="D64520"/>
      </a:accent3>
      <a:accent4>
        <a:srgbClr val="2E8B57"/>
      </a:accent4>
      <a:accent5>
        <a:srgbClr val="5B6C8F"/>
      </a:accent5>
      <a:accent6>
        <a:srgbClr val="A9C7E8"/>
      </a:accent6>
      <a:hlink>
        <a:srgbClr val="0F7F86"/>
      </a:hlink>
      <a:folHlink>
        <a:srgbClr val="5B6C8F"/>
      </a:folHlink>
    </a:clrScheme>
    <a:fontScheme name="Route Amb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Dijkstra's Algorithm</dc:title>
  <dc:subject>PptxGenJS Presentation</dc:subject>
  <dc:creator>PptxGenJS</dc:creator>
  <cp:lastModifiedBy>PptxGenJS</cp:lastModifiedBy>
  <cp:revision>1</cp:revision>
  <dcterms:created xsi:type="dcterms:W3CDTF">2026-10-19T08:46:44Z</dcterms:created>
  <dcterms:modified xsi:type="dcterms:W3CDTF">2026-10-19T08:46:44Z</dcterms:modified>
</cp:coreProperties>
</file>